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Coverage score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Content</c:v>
                </c:pt>
                <c:pt idx="1">
                  <c:v>Comparison</c:v>
                </c:pt>
                <c:pt idx="2">
                  <c:v>Two-column</c:v>
                </c:pt>
                <c:pt idx="3">
                  <c:v>Quote</c:v>
                </c:pt>
                <c:pt idx="4">
                  <c:v>Statistics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95.0</c:v>
                </c:pt>
                <c:pt idx="1">
                  <c:v>91.0</c:v>
                </c:pt>
                <c:pt idx="2">
                  <c:v>89.0</c:v>
                </c:pt>
                <c:pt idx="3">
                  <c:v>84.0</c:v>
                </c:pt>
                <c:pt idx="4">
                  <c:v>92.0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0068A8"/>
                </a:solidFill>
                <a:latin typeface="Aptos"/>
              </a:defRPr>
            </a:pPr>
            <a:r>
              <a:t>AUTOPPT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0"/>
              </a:spcAft>
              <a:defRPr sz="4200" b="1" i="0">
                <a:solidFill>
                  <a:srgbClr val="0B2954"/>
                </a:solidFill>
                <a:latin typeface="Aptos Display"/>
              </a:defRPr>
            </a:pPr>
            <a:r>
              <a:t>Layout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1"/>
            <a:ext cx="7498079" cy="8229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6C7A8C"/>
                </a:solidFill>
                <a:latin typeface="Aptos"/>
              </a:defRPr>
            </a:pPr>
            <a:r>
              <a:t>Deterministic feature sample for richer layouts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8404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267712"/>
            <a:ext cx="3657600" cy="117957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PowerPoint-native output</a:t>
            </a:r>
          </a:p>
          <a:p>
            <a:pPr>
              <a:spcAft>
                <a:spcPts val="144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Layout-aware slide planning</a:t>
            </a:r>
          </a:p>
          <a:p>
            <a:pPr>
              <a:spcAft>
                <a:spcPts val="144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Template and remix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0068A8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0"/>
              </a:spcAft>
              <a:defRPr sz="4200" b="1" i="0">
                <a:solidFill>
                  <a:srgbClr val="0B2954"/>
                </a:solidFill>
                <a:latin typeface="Aptos Display"/>
              </a:defRPr>
            </a:pPr>
            <a:r>
              <a:t>Core layouts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160520"/>
            <a:ext cx="2194560" cy="219456"/>
          </a:xfrm>
          <a:prstGeom prst="roundRect">
            <a:avLst/>
          </a:prstGeom>
          <a:solidFill>
            <a:srgbClr val="00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0B2954"/>
                </a:solidFill>
                <a:latin typeface="Aptos Display"/>
              </a:defRPr>
            </a:pPr>
            <a:r>
              <a:t>Content layout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Use content slides when the message depends on a sequence of evidence-backed points.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This layout is the baseline and should remain readable without visual gimmicks.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It is still the best option for explanatory or narrative-heavy material.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0B2954"/>
                </a:solidFill>
                <a:latin typeface="Aptos Display"/>
              </a:defRPr>
            </a:pPr>
            <a:r>
              <a:t>Comparison layout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0068A8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0068A8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Manual review process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Fragmented tooling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Slow feedback loops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Unified workflow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Shared tooling layer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Faster quality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0B2954"/>
                </a:solidFill>
                <a:latin typeface="Aptos Display"/>
              </a:defRPr>
            </a:pPr>
            <a:r>
              <a:t>Two-column layout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0068A8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0068A8"/>
                </a:solidFill>
                <a:latin typeface="Aptos"/>
              </a:defRPr>
            </a:pPr>
            <a:r>
              <a:t>Operate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Model and tool integration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Knowledge retrieval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Evaluation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Monitoring and review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Cost controls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34E5E"/>
                </a:solidFill>
                <a:latin typeface="Aptos"/>
              </a:defRPr>
            </a:pPr>
            <a:r>
              <a:t>Policy enforcement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7315200" cy="4389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14400" cy="9144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104"/>
              </a:spcAft>
              <a:defRPr sz="9200" b="1" i="0">
                <a:solidFill>
                  <a:srgbClr val="0068A8"/>
                </a:solidFill>
                <a:latin typeface="Aptos Display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6309360" cy="22860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56"/>
              </a:spcAft>
              <a:defRPr sz="2600" b="0" i="1">
                <a:solidFill>
                  <a:srgbClr val="0B2954"/>
                </a:solidFill>
                <a:latin typeface="Aptos Display"/>
              </a:defRPr>
            </a:pPr>
            <a:r>
              <a:t>Structure gives the model a better chance to be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6309360" cy="4572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6C7A8C"/>
                </a:solidFill>
                <a:latin typeface="Aptos"/>
              </a:defRPr>
            </a:pPr>
            <a:r>
              <a:t>— AutoPPT Sample Desk, Layout Gallery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0B2954"/>
                </a:solidFill>
                <a:latin typeface="Aptos Display"/>
              </a:defRPr>
            </a:pPr>
            <a:r>
              <a:t>Statistics layout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2011680"/>
            <a:ext cx="2462783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0068A8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434E5E"/>
                </a:solidFill>
                <a:latin typeface="Aptos"/>
              </a:defRPr>
            </a:pPr>
            <a:r>
              <a:t>Primary content layouts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0607" y="2011680"/>
            <a:ext cx="2462783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375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0068A8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75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434E5E"/>
                </a:solidFill>
                <a:latin typeface="Aptos"/>
              </a:defRPr>
            </a:pPr>
            <a:r>
              <a:t>Deck QA pass before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22847" y="2011680"/>
            <a:ext cx="2462783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599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0068A8"/>
                </a:solidFill>
                <a:latin typeface="Aptos Display"/>
              </a:defRPr>
            </a:pPr>
            <a:r>
              <a:t>0 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99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434E5E"/>
                </a:solidFill>
                <a:latin typeface="Aptos"/>
              </a:defRPr>
            </a:pPr>
            <a:r>
              <a:t>Needed for deterministic refresh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0B2954"/>
                </a:solidFill>
                <a:latin typeface="Aptos Display"/>
              </a:defRPr>
            </a:pPr>
            <a:r>
              <a:t>Chart layout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6656" y="1344168"/>
            <a:ext cx="7735824" cy="45354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49808" y="1417320"/>
          <a:ext cx="75895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0B2954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44"/>
              </a:spcAft>
              <a:defRPr sz="1100" b="0" i="0">
                <a:solidFill>
                  <a:srgbClr val="434E5E"/>
                </a:solidFill>
                <a:latin typeface="Aptos"/>
              </a:defRPr>
            </a:pPr>
            <a:r>
              <a:t>https://github.com/yeasy/autoppt</a:t>
            </a:r>
          </a:p>
          <a:p>
            <a:pPr>
              <a:spcAft>
                <a:spcPts val="44"/>
              </a:spcAft>
              <a:defRPr sz="1100" b="0" i="0">
                <a:solidFill>
                  <a:srgbClr val="434E5E"/>
                </a:solidFill>
                <a:latin typeface="Aptos"/>
              </a:defRPr>
            </a:pPr>
            <a:r>
              <a:t>https://platform.openai.com/docs/overview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