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A87"/>
            </a:gs>
            <a:gs pos="100000">
              <a:srgbClr val="002A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77F0DF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20"/>
              </a:spcAft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健康生活方式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AED5E6"/>
                </a:solidFill>
                <a:latin typeface="Aptos"/>
              </a:defRPr>
            </a:pPr>
            <a:r>
              <a:t>稳定节律，比短期冲刺更有力量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A87"/>
            </a:gs>
            <a:gs pos="100000">
              <a:srgbClr val="002A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6ikwum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27"/>
              </a:spcAft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清晨节律页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图片主导型 lifestyle 开场页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A87"/>
            </a:gs>
            <a:gs pos="100000">
              <a:srgbClr val="002A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真正有效的是稳定的一天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4315967" cy="502920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85231" y="1280160"/>
            <a:ext cx="3200400" cy="502920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25880"/>
            <a:ext cx="4224527" cy="49377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先让节律可重复。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再谈强度与目标。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环境设计比意志力更可靠。</a:t>
            </a:r>
          </a:p>
        </p:txBody>
      </p:sp>
      <p:pic>
        <p:nvPicPr>
          <p:cNvPr id="6" name="Picture 5" descr="tmp5208uj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128016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A87"/>
            </a:gs>
            <a:gs pos="100000">
              <a:srgbClr val="002A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基础目标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011680"/>
            <a:ext cx="2462783" cy="192024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77F0DF"/>
                </a:solidFill>
                <a:latin typeface="Aptos Display"/>
              </a:defRPr>
            </a:pPr>
            <a:r>
              <a:t>150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DCEFFC"/>
                </a:solidFill>
                <a:latin typeface="Aptos"/>
              </a:defRPr>
            </a:pPr>
            <a:r>
              <a:t>每周运动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0607" y="2011680"/>
            <a:ext cx="2462783" cy="192024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375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77F0DF"/>
                </a:solidFill>
                <a:latin typeface="Aptos Display"/>
              </a:defRPr>
            </a:pPr>
            <a:r>
              <a:t>7-9 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75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DCEFFC"/>
                </a:solidFill>
                <a:latin typeface="Aptos"/>
              </a:defRPr>
            </a:pPr>
            <a:r>
              <a:t>推荐睡眠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22847" y="2011680"/>
            <a:ext cx="2462783" cy="192024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99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77F0DF"/>
                </a:solidFill>
                <a:latin typeface="Aptos Display"/>
              </a:defRPr>
            </a:pPr>
            <a:r>
              <a:t>5 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99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DCEFFC"/>
                </a:solidFill>
                <a:latin typeface="Aptos"/>
              </a:defRPr>
            </a:pPr>
            <a:r>
              <a:t>每日蔬果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A87"/>
            </a:gs>
            <a:gs pos="100000">
              <a:srgbClr val="002A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一个可持续的日常系统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77F0DF"/>
                </a:solidFill>
                <a:latin typeface="Aptos"/>
              </a:defRPr>
            </a:pPr>
            <a:r>
              <a:t>晨间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77F0DF"/>
                </a:solidFill>
                <a:latin typeface="Aptos"/>
              </a:defRPr>
            </a:pPr>
            <a:r>
              <a:t>晚间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固定起床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喝水再喝咖啡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先活动再看消息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晚饭提前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降低强光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CEFFC"/>
                </a:solidFill>
                <a:latin typeface="Aptos"/>
              </a:defRPr>
            </a:pPr>
            <a:r>
              <a:t>固定收尾流程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A87"/>
            </a:gs>
            <a:gs pos="100000">
              <a:srgbClr val="002A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s41vt_1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27"/>
              </a:spcAft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恢复同样重要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留白、恢复和低刺激环境，决定这套系统能否持续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A87"/>
            </a:gs>
            <a:gs pos="100000">
              <a:srgbClr val="002A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77F0DF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FFFFFF"/>
                </a:solidFill>
                <a:latin typeface="Aptos Display"/>
              </a:defRPr>
            </a:pPr>
            <a:r>
              <a:t>小而稳的日常胜过偶尔完美的一天。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AED5E6"/>
                </a:solidFill>
                <a:latin typeface="Aptos"/>
              </a:defRPr>
            </a:pPr>
            <a:r>
              <a:t>— AutoPPT Sample Desk, Healthy Habits 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A87"/>
            </a:gs>
            <a:gs pos="100000">
              <a:srgbClr val="002A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0A5478"/>
          </a:solidFill>
          <a:ln w="15875">
            <a:solidFill>
              <a:srgbClr val="87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DCEFFC"/>
                </a:solidFill>
                <a:latin typeface="Aptos"/>
              </a:defRPr>
            </a:pPr>
            <a:r>
              <a:t>https://www.who.int/news-room/fact-sheets/detail/physical-activity</a:t>
            </a:r>
          </a:p>
          <a:p>
            <a:pPr>
              <a:spcAft>
                <a:spcPts val="44"/>
              </a:spcAft>
              <a:defRPr sz="1100" b="0" i="0">
                <a:solidFill>
                  <a:srgbClr val="DCEFFC"/>
                </a:solidFill>
                <a:latin typeface="Aptos"/>
              </a:defRPr>
            </a:pPr>
            <a:r>
              <a:t>https://www.hsph.harvard.edu/nutritionsource/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