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292608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1" i="0">
                <a:solidFill>
                  <a:srgbClr val="646464"/>
                </a:solidFill>
                <a:latin typeface="Aptos"/>
              </a:defRPr>
            </a:pPr>
            <a:r>
              <a:t>AUTOPPT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22376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0"/>
              </a:spcAft>
              <a:defRPr sz="4200" b="1" i="0">
                <a:solidFill>
                  <a:srgbClr val="282828"/>
                </a:solidFill>
                <a:latin typeface="Aptos Display"/>
              </a:defRPr>
            </a:pPr>
            <a:r>
              <a:t>Slide Workbench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1"/>
            <a:ext cx="7498079" cy="82296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6C7684"/>
                </a:solidFill>
                <a:latin typeface="Aptos"/>
              </a:defRPr>
            </a:pPr>
            <a:r>
              <a:t>Before and after single-slide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840480" cy="1325880"/>
          </a:xfrm>
          <a:prstGeom prst="roundRect">
            <a:avLst/>
          </a:prstGeom>
          <a:solidFill>
            <a:srgbClr val="F8F9FC"/>
          </a:solidFill>
          <a:ln w="15875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267712"/>
            <a:ext cx="3657600" cy="117957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800" b="0" i="0">
                <a:solidFill>
                  <a:srgbClr val="484E5C"/>
                </a:solidFill>
                <a:latin typeface="Aptos"/>
              </a:defRPr>
            </a:pPr>
            <a:r>
              <a:t>PowerPoint-native output</a:t>
            </a:r>
          </a:p>
          <a:p>
            <a:pPr>
              <a:spcAft>
                <a:spcPts val="144"/>
              </a:spcAft>
              <a:defRPr sz="1800" b="0" i="0">
                <a:solidFill>
                  <a:srgbClr val="484E5C"/>
                </a:solidFill>
                <a:latin typeface="Aptos"/>
              </a:defRPr>
            </a:pPr>
            <a:r>
              <a:t>Layout-aware slide planning</a:t>
            </a:r>
          </a:p>
          <a:p>
            <a:pPr>
              <a:spcAft>
                <a:spcPts val="144"/>
              </a:spcAft>
              <a:defRPr sz="1800" b="0" i="0">
                <a:solidFill>
                  <a:srgbClr val="484E5C"/>
                </a:solidFill>
                <a:latin typeface="Aptos"/>
              </a:defRPr>
            </a:pPr>
            <a:r>
              <a:t>Template and remix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292608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1" i="0">
                <a:solidFill>
                  <a:srgbClr val="646464"/>
                </a:solidFill>
                <a:latin typeface="Aptos"/>
              </a:defRPr>
            </a:pPr>
            <a: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22376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0"/>
              </a:spcAft>
              <a:defRPr sz="4200" b="1" i="0">
                <a:solidFill>
                  <a:srgbClr val="282828"/>
                </a:solidFill>
                <a:latin typeface="Aptos Display"/>
              </a:defRPr>
            </a:pPr>
            <a:r>
              <a:t>Original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160520"/>
            <a:ext cx="2194560" cy="219456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282828"/>
                </a:solidFill>
                <a:latin typeface="Aptos Display"/>
              </a:defRPr>
            </a:pPr>
            <a:r>
              <a:t>Original content slide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80160"/>
            <a:ext cx="7827263" cy="5029200"/>
          </a:xfrm>
          <a:prstGeom prst="roundRect">
            <a:avLst/>
          </a:prstGeom>
          <a:solidFill>
            <a:srgbClr val="F8F9FC"/>
          </a:solidFill>
          <a:ln w="15875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353312"/>
            <a:ext cx="7680959" cy="48828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484E5C"/>
                </a:solidFill>
                <a:latin typeface="Aptos"/>
              </a:defRPr>
            </a:pPr>
            <a:r>
              <a:t>The first editable version starts as a plain content slide with sequential points.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84E5C"/>
                </a:solidFill>
                <a:latin typeface="Aptos"/>
              </a:defRPr>
            </a:pPr>
            <a:r>
              <a:t>This is useful when the user wants to inspect structure before forcing a richer layout.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84E5C"/>
                </a:solidFill>
                <a:latin typeface="Aptos"/>
              </a:defRPr>
            </a:pPr>
            <a:r>
              <a:t>The workbench can then regenerate or remix the same slot without rebuilding the full deck.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292608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1" i="0">
                <a:solidFill>
                  <a:srgbClr val="646464"/>
                </a:solidFill>
                <a:latin typeface="Aptos"/>
              </a:defRPr>
            </a:pPr>
            <a: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22376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0"/>
              </a:spcAft>
              <a:defRPr sz="4200" b="1" i="0">
                <a:solidFill>
                  <a:srgbClr val="282828"/>
                </a:solidFill>
                <a:latin typeface="Aptos Display"/>
              </a:defRPr>
            </a:pPr>
            <a:r>
              <a:t>Regenerated as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160520"/>
            <a:ext cx="2194560" cy="219456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282828"/>
                </a:solidFill>
                <a:latin typeface="Aptos Display"/>
              </a:defRPr>
            </a:pPr>
            <a:r>
              <a:t>Regenerated comparison slide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80160"/>
            <a:ext cx="3758183" cy="5029200"/>
          </a:xfrm>
          <a:prstGeom prst="roundRect">
            <a:avLst/>
          </a:prstGeom>
          <a:solidFill>
            <a:srgbClr val="F8F9FC"/>
          </a:solidFill>
          <a:ln w="15875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27447" y="1280160"/>
            <a:ext cx="3758183" cy="5029200"/>
          </a:xfrm>
          <a:prstGeom prst="roundRect">
            <a:avLst/>
          </a:prstGeom>
          <a:solidFill>
            <a:srgbClr val="F8F9FC"/>
          </a:solidFill>
          <a:ln w="15875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646464"/>
                </a:solidFill>
                <a:latin typeface="Aptos"/>
              </a:defRPr>
            </a:pPr>
            <a:r>
              <a:t>Current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59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646464"/>
                </a:solidFill>
                <a:latin typeface="Aptos"/>
              </a:defRPr>
            </a:pPr>
            <a:r>
              <a:t>Target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484E5C"/>
                </a:solidFill>
                <a:latin typeface="Aptos"/>
              </a:defRPr>
            </a:pPr>
            <a:r>
              <a:t>Manual review gate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84E5C"/>
                </a:solidFill>
                <a:latin typeface="Aptos"/>
              </a:defRPr>
            </a:pPr>
            <a:r>
              <a:t>Local prompt tweaks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84E5C"/>
                </a:solidFill>
                <a:latin typeface="Aptos"/>
              </a:defRPr>
            </a:pPr>
            <a:r>
              <a:t>Inconsistent export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59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484E5C"/>
                </a:solidFill>
                <a:latin typeface="Aptos"/>
              </a:defRPr>
            </a:pPr>
            <a:r>
              <a:t>Layout-aware planning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84E5C"/>
                </a:solidFill>
                <a:latin typeface="Aptos"/>
              </a:defRPr>
            </a:pPr>
            <a:r>
              <a:t>Explicit target layout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84E5C"/>
                </a:solidFill>
                <a:latin typeface="Aptos"/>
              </a:defRPr>
            </a:pPr>
            <a:r>
              <a:t>Repeatable export 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292608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4"/>
              </a:spcAft>
              <a:defRPr sz="1200" b="1" i="0">
                <a:solidFill>
                  <a:srgbClr val="646464"/>
                </a:solidFill>
                <a:latin typeface="Aptos"/>
              </a:defRPr>
            </a:pPr>
            <a: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22376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0"/>
              </a:spcAft>
              <a:defRPr sz="4200" b="1" i="0">
                <a:solidFill>
                  <a:srgbClr val="282828"/>
                </a:solidFill>
                <a:latin typeface="Aptos Display"/>
              </a:defRPr>
            </a:pPr>
            <a:r>
              <a:t>Remixed into two-column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160520"/>
            <a:ext cx="2194560" cy="219456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282828"/>
                </a:solidFill>
                <a:latin typeface="Aptos Display"/>
              </a:defRPr>
            </a:pPr>
            <a:r>
              <a:t>Remixed two-column slide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80160"/>
            <a:ext cx="3758183" cy="5029200"/>
          </a:xfrm>
          <a:prstGeom prst="roundRect">
            <a:avLst/>
          </a:prstGeom>
          <a:solidFill>
            <a:srgbClr val="F8F9FC"/>
          </a:solidFill>
          <a:ln w="15875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27447" y="1280160"/>
            <a:ext cx="3758183" cy="5029200"/>
          </a:xfrm>
          <a:prstGeom prst="roundRect">
            <a:avLst/>
          </a:prstGeom>
          <a:solidFill>
            <a:srgbClr val="F8F9FC"/>
          </a:solidFill>
          <a:ln w="15875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646464"/>
                </a:solidFill>
                <a:latin typeface="Aptos"/>
              </a:defRPr>
            </a:pPr>
            <a:r>
              <a:t>What stayed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599" y="1353312"/>
            <a:ext cx="3611879" cy="41148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1" i="0">
                <a:solidFill>
                  <a:srgbClr val="646464"/>
                </a:solidFill>
                <a:latin typeface="Aptos"/>
              </a:defRPr>
            </a:pPr>
            <a:r>
              <a:t>What 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484E5C"/>
                </a:solidFill>
                <a:latin typeface="Aptos"/>
              </a:defRPr>
            </a:pPr>
            <a:r>
              <a:t>Same deck and topic context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84E5C"/>
                </a:solidFill>
                <a:latin typeface="Aptos"/>
              </a:defRPr>
            </a:pPr>
            <a:r>
              <a:t>Same slide slot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84E5C"/>
                </a:solidFill>
                <a:latin typeface="Aptos"/>
              </a:defRPr>
            </a:pPr>
            <a:r>
              <a:t>Same export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599" y="1810512"/>
            <a:ext cx="3611879" cy="44256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80"/>
              </a:spcAft>
              <a:defRPr sz="1800" b="0" i="0">
                <a:solidFill>
                  <a:srgbClr val="484E5C"/>
                </a:solidFill>
                <a:latin typeface="Aptos"/>
              </a:defRPr>
            </a:pPr>
            <a:r>
              <a:t>Sharper grouping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84E5C"/>
                </a:solidFill>
                <a:latin typeface="Aptos"/>
              </a:defRPr>
            </a:pPr>
            <a:r>
              <a:t>Cleaner visual rhythm</a:t>
            </a:r>
          </a:p>
          <a:p>
            <a:pPr>
              <a:spcAft>
                <a:spcPts val="180"/>
              </a:spcAft>
              <a:defRPr sz="1800" b="0" i="0">
                <a:solidFill>
                  <a:srgbClr val="484E5C"/>
                </a:solidFill>
                <a:latin typeface="Aptos"/>
              </a:defRPr>
            </a:pPr>
            <a:r>
              <a:t>More obvious speaking 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7315200" cy="4389120"/>
          </a:xfrm>
          <a:prstGeom prst="roundRect">
            <a:avLst/>
          </a:prstGeom>
          <a:solidFill>
            <a:srgbClr val="F8F9FC"/>
          </a:solidFill>
          <a:ln w="15875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325880"/>
            <a:ext cx="914400" cy="9144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104"/>
              </a:spcAft>
              <a:defRPr sz="9200" b="1" i="0">
                <a:solidFill>
                  <a:srgbClr val="646464"/>
                </a:solidFill>
                <a:latin typeface="Aptos Display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6309360" cy="22860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56"/>
              </a:spcAft>
              <a:defRPr sz="2600" b="0" i="1">
                <a:solidFill>
                  <a:srgbClr val="282828"/>
                </a:solidFill>
                <a:latin typeface="Aptos Display"/>
              </a:defRPr>
            </a:pPr>
            <a:r>
              <a:t>Single-slide iteration keeps momentum without forcing a full rerun.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6309360" cy="45720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216"/>
              </a:spcAft>
              <a:defRPr sz="1800" b="0" i="0">
                <a:solidFill>
                  <a:srgbClr val="6C7684"/>
                </a:solidFill>
                <a:latin typeface="Aptos"/>
              </a:defRPr>
            </a:pPr>
            <a:r>
              <a:t>— AutoPPT Sample Desk, Workbench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498079" cy="1645920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140"/>
              </a:spcAft>
              <a:defRPr sz="2800" b="1" i="0">
                <a:solidFill>
                  <a:srgbClr val="282828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280160"/>
            <a:ext cx="7827263" cy="5029200"/>
          </a:xfrm>
          <a:prstGeom prst="roundRect">
            <a:avLst/>
          </a:prstGeom>
          <a:solidFill>
            <a:srgbClr val="F8F9FC"/>
          </a:solidFill>
          <a:ln w="15875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353312"/>
            <a:ext cx="7680959" cy="4882896"/>
          </a:xfrm>
          <a:prstGeom prst="rect">
            <a:avLst/>
          </a:prstGeom>
          <a:noFill/>
        </p:spPr>
        <p:txBody>
          <a:bodyPr wrap="square" lIns="237744" rIns="237744" tIns="237744" bIns="237744">
            <a:spAutoFit/>
          </a:bodyPr>
          <a:lstStyle/>
          <a:p>
            <a:pPr>
              <a:spcAft>
                <a:spcPts val="44"/>
              </a:spcAft>
              <a:defRPr sz="1100" b="0" i="0">
                <a:solidFill>
                  <a:srgbClr val="484E5C"/>
                </a:solidFill>
                <a:latin typeface="Aptos"/>
              </a:defRPr>
            </a:pPr>
            <a:r>
              <a:t>https://github.com/yeasy/autoppt</a:t>
            </a:r>
          </a:p>
          <a:p>
            <a:pPr>
              <a:spcAft>
                <a:spcPts val="44"/>
              </a:spcAft>
              <a:defRPr sz="1100" b="0" i="0">
                <a:solidFill>
                  <a:srgbClr val="484E5C"/>
                </a:solidFill>
                <a:latin typeface="Aptos"/>
              </a:defRPr>
            </a:pPr>
            <a:r>
              <a:t>https://docs.streamlit.io/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