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CB243E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30"/>
              </a:spcAft>
              <a:defRPr sz="4600" b="1" i="0">
                <a:solidFill>
                  <a:srgbClr val="731422"/>
                </a:solidFill>
                <a:latin typeface="Aptos Display"/>
              </a:defRPr>
            </a:pPr>
            <a:r>
              <a:t>Renaissance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6E4A52"/>
                </a:solidFill>
                <a:latin typeface="Aptos"/>
              </a:defRPr>
            </a:pPr>
            <a:r>
              <a:t>How technique, patronage, and humanism reshaped visual culture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920240" cy="45720"/>
          </a:xfrm>
          <a:prstGeom prst="rect">
            <a:avLst/>
          </a:prstGeom>
          <a:solidFill>
            <a:srgbClr val="CB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_ph0mt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52"/>
              </a:spcAft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Editorial opening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A poster-like opening works better than a dense survey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CB243E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731422"/>
                </a:solidFill>
                <a:latin typeface="Aptos Display"/>
              </a:defRPr>
            </a:pPr>
            <a:r>
              <a:t>Perspective became a way of thinking, not just a way of drawing.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6E4A52"/>
                </a:solidFill>
                <a:latin typeface="Aptos"/>
              </a:defRPr>
            </a:pPr>
            <a:r>
              <a:t>— AutoPPT Sample Desk, Renaissance Art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731422"/>
                </a:solidFill>
                <a:latin typeface="Aptos Display"/>
              </a:defRPr>
            </a:pPr>
            <a:r>
              <a:t>Why it still feels modern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920240" cy="45720"/>
          </a:xfrm>
          <a:prstGeom prst="rect">
            <a:avLst/>
          </a:prstGeom>
          <a:solidFill>
            <a:srgbClr val="CB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Space became persuasive.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Bodies gained gravity.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Viewers were given a position.</a:t>
            </a:r>
          </a:p>
        </p:txBody>
      </p:sp>
      <p:pic>
        <p:nvPicPr>
          <p:cNvPr id="7" name="Picture 6" descr="tmptmegq7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t5zk3q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52"/>
              </a:spcAft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Gallery wall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A full-image page keeps pacing and atmosphere intact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731422"/>
                </a:solidFill>
                <a:latin typeface="Aptos Display"/>
              </a:defRPr>
            </a:pPr>
            <a:r>
              <a:t>Early vs High 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920240" cy="45720"/>
          </a:xfrm>
          <a:prstGeom prst="rect">
            <a:avLst/>
          </a:prstGeom>
          <a:solidFill>
            <a:srgbClr val="CB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B243E"/>
                </a:solidFill>
                <a:latin typeface="Aptos"/>
              </a:defRPr>
            </a:pPr>
            <a:r>
              <a:t>Early Renaissance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B243E"/>
                </a:solidFill>
                <a:latin typeface="Aptos"/>
              </a:defRPr>
            </a:pPr>
            <a:r>
              <a:t>High Renaissance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Spatial experiments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Measured emotion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Technique consolidating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Balanced compositions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Integrated anatomy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Ideal beauty and authority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731422"/>
                </a:solidFill>
                <a:latin typeface="Aptos Display"/>
              </a:defRPr>
            </a:pPr>
            <a:r>
              <a:t>How to read a painting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920240" cy="45720"/>
          </a:xfrm>
          <a:prstGeom prst="rect">
            <a:avLst/>
          </a:prstGeom>
          <a:solidFill>
            <a:srgbClr val="CB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B243E"/>
                </a:solidFill>
                <a:latin typeface="Aptos"/>
              </a:defRPr>
            </a:pPr>
            <a:r>
              <a:t>Formal clues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B243E"/>
                </a:solidFill>
                <a:latin typeface="Aptos"/>
              </a:defRPr>
            </a:pPr>
            <a:r>
              <a:t>Context clues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Perspective and composition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Light and texture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Gesture and proportion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Patron identity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Religious or civic use</a:t>
            </a:r>
          </a:p>
          <a:p>
            <a:pPr>
              <a:spcAft>
                <a:spcPts val="180"/>
              </a:spcAft>
              <a:defRPr sz="1800" b="0" i="0">
                <a:solidFill>
                  <a:srgbClr val="262426"/>
                </a:solidFill>
                <a:latin typeface="Aptos"/>
              </a:defRPr>
            </a:pPr>
            <a:r>
              <a:t>Classical 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731422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920240" cy="45720"/>
          </a:xfrm>
          <a:prstGeom prst="rect">
            <a:avLst/>
          </a:prstGeom>
          <a:solidFill>
            <a:srgbClr val="CB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262426"/>
                </a:solidFill>
                <a:latin typeface="Aptos"/>
              </a:defRPr>
            </a:pPr>
            <a:r>
              <a:t>https://www.metmuseum.org/toah/hd/itar/hd_itar.htm</a:t>
            </a:r>
          </a:p>
          <a:p>
            <a:pPr>
              <a:spcAft>
                <a:spcPts val="44"/>
              </a:spcAft>
              <a:defRPr sz="1100" b="0" i="0">
                <a:solidFill>
                  <a:srgbClr val="262426"/>
                </a:solidFill>
                <a:latin typeface="Aptos"/>
              </a:defRPr>
            </a:pPr>
            <a:r>
              <a:t>https://www.uffizi.it/en/artworks/birth-of-venus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