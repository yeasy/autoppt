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回顾 AI 发展的关键节点。强调深度学习和大模型的到来。引用自《AI: A Modern Approach》。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深入探讨 Transformer 和扩散模型。强调算力与数据的重要性。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展示 AI 在金融、医疗、制造等领域的实际应用效果。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从营养学角度分析饮食结构。参考 WHO 均衡饮食建议。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探讨睡眠对身心健康的影响，提供改善睡眠质量的实用建议。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分析文艺复兴背后的哲学动因。强调人本主义在艺术中的体现。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深入剖析达芬奇的标志性技法与跨学科天才特质。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Overview of why LLMs represent a paradigm shift in computing and AI 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Discussing the bridge between virtual intelligence and physical world interaction.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Focusing on the biological mechanisms that drive sustainable health and longevity.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Explaining the scientific and mathematical breakthroughs that redefined Western 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人工智能：重塑未来的力量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C8C8FF"/>
                </a:solidFill>
                <a:latin typeface="Arial"/>
              </a:rPr>
              <a:t>Topic: 人工智能的发展与未来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AI 核心技术与里程碑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从图灵测试到深度学习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1950年图灵提出图灵测试，奠定了机器智能的哲学基础。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2012年 AlexNet 在 ImageNet 竞赛中夺冠，开启深度学习革命。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大模型时代：从 GPT-3 到 Gemini，参数规模实现指数级增长。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多模态融合成为主流，架构趋向于统一的注意力机制模型。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生成式 AI 的技术底座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Transformer 架构：自注意力机制（Self-Attention）彻底改变了序列建模。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扩散模型（Diffusion Models）：在图像生成与物理模拟领域占据核心地位。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算力与数据：高性能 GPU 集群与高质量标注数据构筑的核心护城河。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RLHF：通过人类反馈的强化学习极大提升了模型的一致性与安全性。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产业影响与未来展望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AI 赋能行业转型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金融领域：利用大模型进行实时风险评估与个性化理财顾问。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医疗健康：AI 辅助药物发现与蛋白质结构预测（AlphaFold）。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智能制造：端到端自动驾驶与具身智能（Embodied AI）机器人。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文化创意：跨模态创作极大地降低了艺术与编程的入门门槛。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https://www.nature.com/</a:t>
            </a:r>
          </a:p>
          <a:p>
            <a:pPr>
              <a:defRPr sz="1200"/>
            </a:pPr>
            <a:r>
              <a:t>https://arxiv.org/</a:t>
            </a:r>
          </a:p>
          <a:p>
            <a:pPr>
              <a:defRPr sz="1200"/>
            </a:pPr>
            <a:r>
              <a:t>https://www.metmuseum.org/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现代人的健康生活指南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325032"/>
                </a:solidFill>
                <a:latin typeface="Georgia"/>
              </a:rPr>
              <a:t>Topic: 健康生活方式指南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营养平衡与均衡饮食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营养学核心原则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25032"/>
                </a:solidFill>
                <a:latin typeface="Georgia"/>
              </a:rPr>
              <a:t>宏量营养素平衡：碳水化合物、脂肪与蛋白质的黄金摄入比例。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微量元素的重要性：维生素与矿物质在调节生理功能中的作用。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控糖与低 GI 饮食：维持血糖平稳对疾病预防的长期意义。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水分补充：科学的补水策略对代谢功能的正向影响。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心理健康与作息规律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睡眠质量与睡眠卫生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25032"/>
                </a:solidFill>
                <a:latin typeface="Georgia"/>
              </a:rPr>
              <a:t>昼夜节律调控：褪黑素分泌与环境光照的科学关系。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深度睡眠的修复作用：大脑清理代谢废物（类淋巴系统）的关键期。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数字化环境下的睡眠挑战：缓解屏幕蓝光对入睡干扰的建议。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合理的运动干预：有氧运动对改善长期睡眠结构的积极效用。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https://www.nature.com/</a:t>
            </a:r>
          </a:p>
          <a:p>
            <a:pPr>
              <a:defRPr sz="1200"/>
            </a:pPr>
            <a:r>
              <a:t>https://arxiv.org/</a:t>
            </a:r>
          </a:p>
          <a:p>
            <a:pPr>
              <a:defRPr sz="1200"/>
            </a:pPr>
            <a:r>
              <a:t>https://www.metmuseum.org/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人类文明的曙光：文艺复兴艺术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3C283C"/>
                </a:solidFill>
                <a:latin typeface="Verdana"/>
              </a:rPr>
              <a:t>Topic: 文艺复兴艺术赏析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文艺复兴初期的变革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人文主义精神的崛起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C283C"/>
                </a:solidFill>
                <a:latin typeface="Verdana"/>
              </a:rPr>
              <a:t>从神本主义向人本主义的转向：关注现世生活与个人价值。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解剖学与透视法的应用：绘画艺术追求极致的科学写实性。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佛罗伦萨：作为欧洲艺术中心的地位及其赞助人（美第奇家族）。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乔托的突破：在二维平面上营造三维空间感的先驱探索。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三杰鼎立的黄金盛世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达芬奇：科学与艺术的跨界化身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C283C"/>
                </a:solidFill>
                <a:latin typeface="Verdana"/>
              </a:rPr>
              <a:t>《蒙娜丽莎》：晕涂法（Sfumato）对人物表情与氛围的塑造。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《最后的晚餐》：严谨的线性透视法则与深刻的心理描写。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解剖研究：达芬奇在手稿中体现出的艺术与生物学的深度融合。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自然观察者的视角：将自然科学严谨性引入绘画构图的典范。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https://www.nature.com/</a:t>
            </a:r>
          </a:p>
          <a:p>
            <a:pPr>
              <a:defRPr sz="1200"/>
            </a:pPr>
            <a:r>
              <a:t>https://arxiv.org/</a:t>
            </a:r>
          </a:p>
          <a:p>
            <a:pPr>
              <a:defRPr sz="1200"/>
            </a:pPr>
            <a:r>
              <a:t>https://www.metmuseum.org/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Artificial Intelligence: The Silicon Frontier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C8C8FF"/>
                </a:solidFill>
                <a:latin typeface="Arial"/>
              </a:rPr>
              <a:t>Topic: The Future of Artificial Intelligence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The Large Language Model Era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Emergence of General Intelligence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Scale over Specificity: How generalist models are outperforming specialists.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In-context Learning: The ability to perform tasks from few-shot examples.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Reasoning and Logic: Addressing the 'hallucination' problem via Chain-of-Thought.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Human-AI Alignment: Ensuring AI objectives match human values through RLHF.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Robotics and Physical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Embodied Intelligence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Vision-Language-Action (VLA) models: Connecting perception directly to physical movement.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End-to-End Control: Replacing heuristic coding with neural-based decision loops.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Simulation-to-Real: Using high-fidelity physics engines for rapid robot training.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Humanoid Form Factors: Designing bots for environments built for humans.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https://www.nature.com/</a:t>
            </a:r>
          </a:p>
          <a:p>
            <a:pPr>
              <a:defRPr sz="1200"/>
            </a:pPr>
            <a:r>
              <a:t>https://arxiv.org/</a:t>
            </a:r>
          </a:p>
          <a:p>
            <a:pPr>
              <a:defRPr sz="1200"/>
            </a:pPr>
            <a:r>
              <a:t>https://www.metmuseum.org/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Vitality: A Holistic Approach to Longevity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325032"/>
                </a:solidFill>
                <a:latin typeface="Georgia"/>
              </a:rPr>
              <a:t>Topic: Guide to Healthy Living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Biological Foundations of Health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The Role of Metabolic Health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25032"/>
                </a:solidFill>
                <a:latin typeface="Georgia"/>
              </a:rPr>
              <a:t>Insulin Sensitivity: The master metabolic regulator for long-term health.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Mitochondrial Function: Optimizing cellular energy through diet and exercise.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Inflammation Control: Managing systemic inflammation via omega-3s and antioxidants.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Gut Microbiome: The symbiotic relationship between diet and immune diversity.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https://www.nature.com/</a:t>
            </a:r>
          </a:p>
          <a:p>
            <a:pPr>
              <a:defRPr sz="1200"/>
            </a:pPr>
            <a:r>
              <a:t>https://arxiv.org/</a:t>
            </a:r>
          </a:p>
          <a:p>
            <a:pPr>
              <a:defRPr sz="1200"/>
            </a:pPr>
            <a:r>
              <a:t>https://www.metmuseum.org/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Renaissance: The Rebirth of Human Genius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3C283C"/>
                </a:solidFill>
                <a:latin typeface="Verdana"/>
              </a:rPr>
              <a:t>Topic: Appreciating Renaissance Art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Technical Revolutions in Painting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Linear Perspective and Depth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C283C"/>
                </a:solidFill>
                <a:latin typeface="Verdana"/>
              </a:rPr>
              <a:t>Brunelleschi's Discovery: Mapping 3D space mathematically onto 2D surfaces.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Vanishing Point: Creating an immersive window into the world for the viewer.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Chiaroscuro: Utilizing strong contrasts between light and dark to model volume.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Foreshortening: Portraying objects receding into space for dramatic impact.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https://www.nature.com/</a:t>
            </a:r>
          </a:p>
          <a:p>
            <a:pPr>
              <a:defRPr sz="1200"/>
            </a:pPr>
            <a:r>
              <a:t>https://arxiv.org/</a:t>
            </a:r>
          </a:p>
          <a:p>
            <a:pPr>
              <a:defRPr sz="1200"/>
            </a:pPr>
            <a:r>
              <a:t>https://www.metmuseum.org/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