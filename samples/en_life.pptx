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7054"/>
            </a:gs>
            <a:gs pos="100000">
              <a:srgbClr val="B03675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FFD783"/>
                </a:solidFill>
                <a:latin typeface="Aptos"/>
              </a:defRPr>
            </a:pPr>
            <a:r>
              <a:t>AUTOPPT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20"/>
              </a:spcAft>
              <a:defRPr sz="4400" b="1" i="0">
                <a:solidFill>
                  <a:srgbClr val="FFFFFF"/>
                </a:solidFill>
                <a:latin typeface="Aptos Display"/>
              </a:defRPr>
            </a:pPr>
            <a:r>
              <a:t>Healthy Living Lifestyle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1"/>
            <a:ext cx="7498079" cy="8229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FFD7C8"/>
                </a:solidFill>
                <a:latin typeface="Aptos"/>
              </a:defRPr>
            </a:pPr>
            <a:r>
              <a:t>A calmer system for energy and resilience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371600" cy="45720"/>
          </a:xfrm>
          <a:prstGeom prst="rect">
            <a:avLst/>
          </a:prstGeom>
          <a:solidFill>
            <a:srgbClr val="FFD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840480" cy="1325880"/>
          </a:xfrm>
          <a:prstGeom prst="roundRect">
            <a:avLst/>
          </a:prstGeom>
          <a:solidFill>
            <a:srgbClr val="C9576E"/>
          </a:solidFill>
          <a:ln w="15875">
            <a:solidFill>
              <a:srgbClr val="FFC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267712"/>
            <a:ext cx="3657600" cy="117957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800" b="0" i="0">
                <a:solidFill>
                  <a:srgbClr val="FFEFE0"/>
                </a:solidFill>
                <a:latin typeface="Aptos"/>
              </a:defRPr>
            </a:pPr>
            <a:r>
              <a:t>PowerPoint-native output</a:t>
            </a:r>
          </a:p>
          <a:p>
            <a:pPr>
              <a:spcAft>
                <a:spcPts val="144"/>
              </a:spcAft>
              <a:defRPr sz="1800" b="0" i="0">
                <a:solidFill>
                  <a:srgbClr val="FFEFE0"/>
                </a:solidFill>
                <a:latin typeface="Aptos"/>
              </a:defRPr>
            </a:pPr>
            <a:r>
              <a:t>Layout-aware slide planning</a:t>
            </a:r>
          </a:p>
          <a:p>
            <a:pPr>
              <a:spcAft>
                <a:spcPts val="144"/>
              </a:spcAft>
              <a:defRPr sz="1800" b="0" i="0">
                <a:solidFill>
                  <a:srgbClr val="FFEFE0"/>
                </a:solidFill>
                <a:latin typeface="Aptos"/>
              </a:defRPr>
            </a:pPr>
            <a:r>
              <a:t>Template and remix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7054"/>
            </a:gs>
            <a:gs pos="100000">
              <a:srgbClr val="B03675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8nbiz2v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27"/>
              </a:spcAft>
              <a:defRPr sz="4400" b="1" i="0">
                <a:solidFill>
                  <a:srgbClr val="FFFFFF"/>
                </a:solidFill>
                <a:latin typeface="Aptos Display"/>
              </a:defRPr>
            </a:pPr>
            <a:r>
              <a:t>Lifestyle cover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Aptos"/>
              </a:defRPr>
            </a:pPr>
            <a:r>
              <a:t>A softer, image-led opening for wellness storytelling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7054"/>
            </a:gs>
            <a:gs pos="100000">
              <a:srgbClr val="B03675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The steady-day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FFD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4315967" cy="5029200"/>
          </a:xfrm>
          <a:prstGeom prst="roundRect">
            <a:avLst/>
          </a:prstGeom>
          <a:solidFill>
            <a:srgbClr val="C9576E"/>
          </a:solidFill>
          <a:ln w="15875">
            <a:solidFill>
              <a:srgbClr val="FFC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85231" y="1280160"/>
            <a:ext cx="3200400" cy="5029200"/>
          </a:xfrm>
          <a:prstGeom prst="roundRect">
            <a:avLst/>
          </a:prstGeom>
          <a:solidFill>
            <a:srgbClr val="C9576E"/>
          </a:solidFill>
          <a:ln w="15875">
            <a:solidFill>
              <a:srgbClr val="FFC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25880"/>
            <a:ext cx="4224527" cy="49377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FFEFE0"/>
                </a:solidFill>
                <a:latin typeface="Aptos"/>
              </a:defRPr>
            </a:pPr>
            <a:r>
              <a:t>Design for repeatability first.</a:t>
            </a:r>
          </a:p>
          <a:p>
            <a:pPr>
              <a:spcAft>
                <a:spcPts val="180"/>
              </a:spcAft>
              <a:defRPr sz="1800" b="0" i="0">
                <a:solidFill>
                  <a:srgbClr val="FFEFE0"/>
                </a:solidFill>
                <a:latin typeface="Aptos"/>
              </a:defRPr>
            </a:pPr>
            <a:r>
              <a:t>Make recovery visible.</a:t>
            </a:r>
          </a:p>
          <a:p>
            <a:pPr>
              <a:spcAft>
                <a:spcPts val="180"/>
              </a:spcAft>
              <a:defRPr sz="1800" b="0" i="0">
                <a:solidFill>
                  <a:srgbClr val="FFEFE0"/>
                </a:solidFill>
                <a:latin typeface="Aptos"/>
              </a:defRPr>
            </a:pPr>
            <a:r>
              <a:t>Let the environment do the work.</a:t>
            </a:r>
          </a:p>
        </p:txBody>
      </p:sp>
      <p:pic>
        <p:nvPicPr>
          <p:cNvPr id="7" name="Picture 6" descr="tmp2hjbct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1" y="1280160"/>
            <a:ext cx="3200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7054"/>
            </a:gs>
            <a:gs pos="100000">
              <a:srgbClr val="B03675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Baseline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FFD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2011680"/>
            <a:ext cx="2462783" cy="1920240"/>
          </a:xfrm>
          <a:prstGeom prst="roundRect">
            <a:avLst/>
          </a:prstGeom>
          <a:solidFill>
            <a:srgbClr val="C9576E"/>
          </a:solidFill>
          <a:ln w="15875">
            <a:solidFill>
              <a:srgbClr val="FFC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FFD783"/>
                </a:solidFill>
                <a:latin typeface="Aptos Display"/>
              </a:defRPr>
            </a:pPr>
            <a:r>
              <a:t>150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FFEFE0"/>
                </a:solidFill>
                <a:latin typeface="Aptos"/>
              </a:defRPr>
            </a:pPr>
            <a:r>
              <a:t>Weekly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0607" y="2011680"/>
            <a:ext cx="2462783" cy="1920240"/>
          </a:xfrm>
          <a:prstGeom prst="roundRect">
            <a:avLst/>
          </a:prstGeom>
          <a:solidFill>
            <a:srgbClr val="C9576E"/>
          </a:solidFill>
          <a:ln w="15875">
            <a:solidFill>
              <a:srgbClr val="FFC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1375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FFD783"/>
                </a:solidFill>
                <a:latin typeface="Aptos Display"/>
              </a:defRPr>
            </a:pPr>
            <a:r>
              <a:t>7-9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375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FFEFE0"/>
                </a:solidFill>
                <a:latin typeface="Aptos"/>
              </a:defRPr>
            </a:pPr>
            <a:r>
              <a:t>Adult sleep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22847" y="2011680"/>
            <a:ext cx="2462783" cy="1920240"/>
          </a:xfrm>
          <a:prstGeom prst="roundRect">
            <a:avLst/>
          </a:prstGeom>
          <a:solidFill>
            <a:srgbClr val="C9576E"/>
          </a:solidFill>
          <a:ln w="15875">
            <a:solidFill>
              <a:srgbClr val="FFC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5999" y="2304288"/>
            <a:ext cx="2316479" cy="7315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408"/>
              </a:spcAft>
              <a:defRPr sz="3400" b="1" i="0">
                <a:solidFill>
                  <a:srgbClr val="FFD783"/>
                </a:solidFill>
                <a:latin typeface="Aptos Display"/>
              </a:defRPr>
            </a:pPr>
            <a:r>
              <a:t>2 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999" y="3127248"/>
            <a:ext cx="2316479" cy="6400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 algn="ctr">
              <a:spcAft>
                <a:spcPts val="168"/>
              </a:spcAft>
              <a:defRPr sz="1400" b="0" i="0">
                <a:solidFill>
                  <a:srgbClr val="FFEFE0"/>
                </a:solidFill>
                <a:latin typeface="Aptos"/>
              </a:defRPr>
            </a:pPr>
            <a:r>
              <a:t>Hydration target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7054"/>
            </a:gs>
            <a:gs pos="100000">
              <a:srgbClr val="B03675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Simple daily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FFD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C9576E"/>
          </a:solidFill>
          <a:ln w="15875">
            <a:solidFill>
              <a:srgbClr val="FFC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C9576E"/>
          </a:solidFill>
          <a:ln w="15875">
            <a:solidFill>
              <a:srgbClr val="FFC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FFD783"/>
                </a:solidFill>
                <a:latin typeface="Aptos"/>
              </a:defRPr>
            </a:pPr>
            <a:r>
              <a:t>Morning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FFD783"/>
                </a:solidFill>
                <a:latin typeface="Aptos"/>
              </a:defRPr>
            </a:pPr>
            <a:r>
              <a:t>Evening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FFEFE0"/>
                </a:solidFill>
                <a:latin typeface="Aptos"/>
              </a:defRPr>
            </a:pPr>
            <a:r>
              <a:t>Wake at one time</a:t>
            </a:r>
          </a:p>
          <a:p>
            <a:pPr>
              <a:spcAft>
                <a:spcPts val="180"/>
              </a:spcAft>
              <a:defRPr sz="1800" b="0" i="0">
                <a:solidFill>
                  <a:srgbClr val="FFEFE0"/>
                </a:solidFill>
                <a:latin typeface="Aptos"/>
              </a:defRPr>
            </a:pPr>
            <a:r>
              <a:t>Hydrate before caffeine</a:t>
            </a:r>
          </a:p>
          <a:p>
            <a:pPr>
              <a:spcAft>
                <a:spcPts val="180"/>
              </a:spcAft>
              <a:defRPr sz="1800" b="0" i="0">
                <a:solidFill>
                  <a:srgbClr val="FFEFE0"/>
                </a:solidFill>
                <a:latin typeface="Aptos"/>
              </a:defRPr>
            </a:pPr>
            <a:r>
              <a:t>Move before messages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FFEFE0"/>
                </a:solidFill>
                <a:latin typeface="Aptos"/>
              </a:defRPr>
            </a:pPr>
            <a:r>
              <a:t>End meals earlier</a:t>
            </a:r>
          </a:p>
          <a:p>
            <a:pPr>
              <a:spcAft>
                <a:spcPts val="180"/>
              </a:spcAft>
              <a:defRPr sz="1800" b="0" i="0">
                <a:solidFill>
                  <a:srgbClr val="FFEFE0"/>
                </a:solidFill>
                <a:latin typeface="Aptos"/>
              </a:defRPr>
            </a:pPr>
            <a:r>
              <a:t>Reduce bright light</a:t>
            </a:r>
          </a:p>
          <a:p>
            <a:pPr>
              <a:spcAft>
                <a:spcPts val="180"/>
              </a:spcAft>
              <a:defRPr sz="1800" b="0" i="0">
                <a:solidFill>
                  <a:srgbClr val="FFEFE0"/>
                </a:solidFill>
                <a:latin typeface="Aptos"/>
              </a:defRPr>
            </a:pPr>
            <a:r>
              <a:t>Use one fixed wind-down ritual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7054"/>
            </a:gs>
            <a:gs pos="100000">
              <a:srgbClr val="B03675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32xciuw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527"/>
              </a:spcAft>
              <a:defRPr sz="4400" b="1" i="0">
                <a:solidFill>
                  <a:srgbClr val="FFFFFF"/>
                </a:solidFill>
                <a:latin typeface="Aptos Display"/>
              </a:defRPr>
            </a:pPr>
            <a:r>
              <a:t>Recovery matters too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7863840" cy="2743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0" i="0">
                <a:solidFill>
                  <a:srgbClr val="F4F7FA"/>
                </a:solidFill>
                <a:latin typeface="Aptos"/>
              </a:defRPr>
            </a:pPr>
            <a:r>
              <a:t>A lower-density slide keeps the deck from feeling like a wellness checklist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7054"/>
            </a:gs>
            <a:gs pos="100000">
              <a:srgbClr val="B03675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7315200" cy="4389120"/>
          </a:xfrm>
          <a:prstGeom prst="roundRect">
            <a:avLst/>
          </a:prstGeom>
          <a:solidFill>
            <a:srgbClr val="C9576E"/>
          </a:solidFill>
          <a:ln w="15875">
            <a:solidFill>
              <a:srgbClr val="FFC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325880"/>
            <a:ext cx="914400" cy="9144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104"/>
              </a:spcAft>
              <a:defRPr sz="9200" b="1" i="0">
                <a:solidFill>
                  <a:srgbClr val="FFD783"/>
                </a:solidFill>
                <a:latin typeface="Aptos Display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6309360" cy="22860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56"/>
              </a:spcAft>
              <a:defRPr sz="2600" b="0" i="1">
                <a:solidFill>
                  <a:srgbClr val="FFFFFF"/>
                </a:solidFill>
                <a:latin typeface="Aptos Display"/>
              </a:defRPr>
            </a:pPr>
            <a:r>
              <a:t>Consistency compounds faster than intensity.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6309360" cy="4572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FFD7C8"/>
                </a:solidFill>
                <a:latin typeface="Aptos"/>
              </a:defRPr>
            </a:pPr>
            <a:r>
              <a:t>— AutoPPT Sample Desk, Healthy Living Notes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7054"/>
            </a:gs>
            <a:gs pos="100000">
              <a:srgbClr val="B03675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FFFFFF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97863"/>
            <a:ext cx="1371600" cy="45720"/>
          </a:xfrm>
          <a:prstGeom prst="rect">
            <a:avLst/>
          </a:prstGeom>
          <a:solidFill>
            <a:srgbClr val="FFD7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7827263" cy="5029200"/>
          </a:xfrm>
          <a:prstGeom prst="roundRect">
            <a:avLst/>
          </a:prstGeom>
          <a:solidFill>
            <a:srgbClr val="C9576E"/>
          </a:solidFill>
          <a:ln w="15875">
            <a:solidFill>
              <a:srgbClr val="FFC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353312"/>
            <a:ext cx="7680959" cy="48828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44"/>
              </a:spcAft>
              <a:defRPr sz="1100" b="0" i="0">
                <a:solidFill>
                  <a:srgbClr val="FFEFE0"/>
                </a:solidFill>
                <a:latin typeface="Aptos"/>
              </a:defRPr>
            </a:pPr>
            <a:r>
              <a:t>https://www.who.int/news-room/fact-sheets/detail/physical-activity</a:t>
            </a:r>
          </a:p>
          <a:p>
            <a:pPr>
              <a:spcAft>
                <a:spcPts val="44"/>
              </a:spcAft>
              <a:defRPr sz="1100" b="0" i="0">
                <a:solidFill>
                  <a:srgbClr val="FFEFE0"/>
                </a:solidFill>
                <a:latin typeface="Aptos"/>
              </a:defRPr>
            </a:pPr>
            <a:r>
              <a:t>https://www.cdc.gov/sleep/about/index.html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