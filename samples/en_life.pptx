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本节介绍 AI 的前身及其早期的哲学与数学基础，重点强调对人类智能的逻辑模拟尝试。</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介绍神经网络从被冷落到重新获得学术界关注的过程，为后来的深度学习爆发做铺垫。</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分析深度学习在视觉和 NLP 领域的双重突破，揭示 Transformer 架构为何成为当今万物互联的技术底座。</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旨在揭示胰岛素在人体内调取和储存能量的底层逻辑，以及不当饮食对代谢系统的长期损伤。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探讨如何从微观层面优化身体引擎，强调生活细节对生物学年龄的逆转作用。</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本节重点讲解文艺复兴如何利用数学工具彻底改变了人类观察图像的方式。</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分析达芬奇如何通过精妙的光学观察超越了机械的透视法，赋予肖像画以生命感。</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Explaining the physics that enables exponential speedup in specific algorithmic domains like cryptography.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Discussing the convergence of AI architecture and quantum hardware for the 2030 decade.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Breaking down the cellular mechanisms that respond to nutrient deprivation and increase metabolic health.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ctrTitle"/>
          </p:nvPr>
        </p:nvSpPr>
        <p:spPr/>
        <p:txBody>
          <a:bodyPr/>
          <a:lstStyle/>
          <a:p>
            <a:r>
              <a:rPr>
                <a:solidFill>
                  <a:srgbClr val="0066CC"/>
                </a:solidFill>
                <a:latin typeface="Arial"/>
              </a:rPr>
              <a:t>人工智能：从图灵测试到通用人工智能 (AGI)</a:t>
            </a:r>
          </a:p>
        </p:txBody>
      </p:sp>
      <p:sp>
        <p:nvSpPr>
          <p:cNvPr id="3" name="Subtitle 2"/>
          <p:cNvSpPr>
            <a:spLocks noGrp="1"/>
          </p:cNvSpPr>
          <p:nvPr>
            <p:ph type="subTitle" idx="1"/>
          </p:nvPr>
        </p:nvSpPr>
        <p:spPr/>
        <p:txBody>
          <a:bodyPr/>
          <a:lstStyle/>
          <a:p>
            <a:r>
              <a:rPr>
                <a:solidFill>
                  <a:srgbClr val="C8C8FF"/>
                </a:solidFill>
                <a:latin typeface="Arial"/>
              </a:rPr>
              <a:t>Topic: AI的发展历史与未来趋势</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title"/>
          </p:nvPr>
        </p:nvSpPr>
        <p:spPr/>
        <p:txBody>
          <a:bodyPr/>
          <a:lstStyle/>
          <a:p>
            <a:r>
              <a:rPr>
                <a:solidFill>
                  <a:srgbClr val="0066CC"/>
                </a:solidFill>
                <a:latin typeface="Arial"/>
              </a:rPr>
              <a:t>计算智能的起源与逻辑奠基 (1950-1980)</a:t>
            </a:r>
          </a:p>
        </p:txBody>
      </p:sp>
      <p:sp>
        <p:nvSpPr>
          <p:cNvPr id="3" name="Text Placeholder 2"/>
          <p:cNvSpPr>
            <a:spLocks noGrp="1"/>
          </p:cNvSpPr>
          <p:nvPr>
            <p:ph type="body" idx="1"/>
          </p:nvPr>
        </p:nvSpPr>
        <p:spPr/>
        <p:txBody>
          <a:bodyPr/>
          <a:lstStyle/>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title"/>
          </p:nvPr>
        </p:nvSpPr>
        <p:spPr/>
        <p:txBody>
          <a:bodyPr/>
          <a:lstStyle/>
          <a:p>
            <a:r>
              <a:rPr>
                <a:solidFill>
                  <a:srgbClr val="0066CC"/>
                </a:solidFill>
                <a:latin typeface="Arial"/>
              </a:rPr>
              <a:t>图灵测试与符号 AI 的诞生</a:t>
            </a:r>
          </a:p>
        </p:txBody>
      </p:sp>
      <p:sp>
        <p:nvSpPr>
          <p:cNvPr id="3" name="Content Placeholder 2"/>
          <p:cNvSpPr>
            <a:spLocks noGrp="1"/>
          </p:cNvSpPr>
          <p:nvPr>
            <p:ph idx="1"/>
          </p:nvPr>
        </p:nvSpPr>
        <p:spPr/>
        <p:txBody>
          <a:bodyPr wrap="square"/>
          <a:lstStyle/>
          <a:p/>
          <a:p>
            <a:pPr/>
            <a:r>
              <a:rPr>
                <a:solidFill>
                  <a:srgbClr val="C8C8FF"/>
                </a:solidFill>
                <a:latin typeface="Arial"/>
              </a:rPr>
              <a:t>1950年：阿兰·图灵发表《计算机器与智能》，提出著名的“图灵测试” (Turing Test)。</a:t>
            </a:r>
          </a:p>
          <a:p>
            <a:pPr/>
            <a:r>
              <a:rPr>
                <a:solidFill>
                  <a:srgbClr val="C8C8FF"/>
                </a:solidFill>
                <a:latin typeface="Arial"/>
              </a:rPr>
              <a:t>1956年：达特茅斯会议 (Dartmouth Workshop) 正式确立“人工智能”学科，麦卡锡、明斯基等人为学科领袖。</a:t>
            </a:r>
          </a:p>
          <a:p>
            <a:pPr/>
            <a:r>
              <a:rPr>
                <a:solidFill>
                  <a:srgbClr val="C8C8FF"/>
                </a:solidFill>
                <a:latin typeface="Arial"/>
              </a:rPr>
              <a:t>逻辑主义时代：基于规则的专家系统（如 MYCIN）在特定医疗诊断领域取得初步成功。</a:t>
            </a:r>
          </a:p>
          <a:p>
            <a:pPr/>
            <a:r>
              <a:rPr>
                <a:solidFill>
                  <a:srgbClr val="C8C8FF"/>
                </a:solidFill>
                <a:latin typeface="Arial"/>
              </a:rPr>
              <a:t>瓶颈出现：早期 AI 难以处理模糊信息，导致70年代中期进入第一个“AI 冬天”。</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title"/>
          </p:nvPr>
        </p:nvSpPr>
        <p:spPr/>
        <p:txBody>
          <a:bodyPr/>
          <a:lstStyle/>
          <a:p>
            <a:r>
              <a:rPr>
                <a:solidFill>
                  <a:srgbClr val="0066CC"/>
                </a:solidFill>
                <a:latin typeface="Arial"/>
              </a:rPr>
              <a:t>联结主义与神经网络的复兴</a:t>
            </a:r>
          </a:p>
        </p:txBody>
      </p:sp>
      <p:sp>
        <p:nvSpPr>
          <p:cNvPr id="3" name="Content Placeholder 2"/>
          <p:cNvSpPr>
            <a:spLocks noGrp="1"/>
          </p:cNvSpPr>
          <p:nvPr>
            <p:ph idx="1"/>
          </p:nvPr>
        </p:nvSpPr>
        <p:spPr/>
        <p:txBody>
          <a:bodyPr wrap="square"/>
          <a:lstStyle/>
          <a:p/>
          <a:p>
            <a:pPr/>
            <a:r>
              <a:rPr>
                <a:solidFill>
                  <a:srgbClr val="C8C8FF"/>
                </a:solidFill>
                <a:latin typeface="Arial"/>
              </a:rPr>
              <a:t>1986年：Rumelhart 提出反向传播算法 (Backpropagation)，解决了多层感知器的训练难题。</a:t>
            </a:r>
          </a:p>
          <a:p>
            <a:pPr/>
            <a:r>
              <a:rPr>
                <a:solidFill>
                  <a:srgbClr val="C8C8FF"/>
                </a:solidFill>
                <a:latin typeface="Arial"/>
              </a:rPr>
              <a:t>统计学习方法崛起：SVM 与随机森林在90年代成为机器学习的主流工具。</a:t>
            </a:r>
          </a:p>
          <a:p>
            <a:pPr/>
            <a:r>
              <a:rPr>
                <a:solidFill>
                  <a:srgbClr val="C8C8FF"/>
                </a:solidFill>
                <a:latin typeface="Arial"/>
              </a:rPr>
              <a:t>GPU 计算能力的增强：为复杂的矩阵运算提供了硬件基础，神经网络的研究重心逐渐转向深度化。</a:t>
            </a:r>
          </a:p>
          <a:p>
            <a:pPr/>
            <a:r>
              <a:rPr>
                <a:solidFill>
                  <a:srgbClr val="C8C8FF"/>
                </a:solidFill>
                <a:latin typeface="Arial"/>
              </a:rPr>
              <a:t>循环神经网络 (RNN) 与 LSTM：在高盛等金融机构及自然语言处理中开始显露头角。</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title"/>
          </p:nvPr>
        </p:nvSpPr>
        <p:spPr/>
        <p:txBody>
          <a:bodyPr/>
          <a:lstStyle/>
          <a:p>
            <a:r>
              <a:rPr>
                <a:solidFill>
                  <a:srgbClr val="0066CC"/>
                </a:solidFill>
                <a:latin typeface="Arial"/>
              </a:rPr>
              <a:t>深度学习革命与大模型时代 (2012-Present)</a:t>
            </a:r>
          </a:p>
        </p:txBody>
      </p:sp>
      <p:sp>
        <p:nvSpPr>
          <p:cNvPr id="3" name="Text Placeholder 2"/>
          <p:cNvSpPr>
            <a:spLocks noGrp="1"/>
          </p:cNvSpPr>
          <p:nvPr>
            <p:ph type="body" idx="1"/>
          </p:nvPr>
        </p:nvSpPr>
        <p:spPr/>
        <p:txBody>
          <a:bodyPr/>
          <a:lstStyle/>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title"/>
          </p:nvPr>
        </p:nvSpPr>
        <p:spPr/>
        <p:txBody>
          <a:bodyPr/>
          <a:lstStyle/>
          <a:p>
            <a:r>
              <a:rPr>
                <a:solidFill>
                  <a:srgbClr val="0066CC"/>
                </a:solidFill>
                <a:latin typeface="Arial"/>
              </a:rPr>
              <a:t>从 ImageNet 到 Transformer 架构</a:t>
            </a:r>
          </a:p>
        </p:txBody>
      </p:sp>
      <p:sp>
        <p:nvSpPr>
          <p:cNvPr id="3" name="Content Placeholder 2"/>
          <p:cNvSpPr>
            <a:spLocks noGrp="1"/>
          </p:cNvSpPr>
          <p:nvPr>
            <p:ph idx="1"/>
          </p:nvPr>
        </p:nvSpPr>
        <p:spPr/>
        <p:txBody>
          <a:bodyPr wrap="square"/>
          <a:lstStyle/>
          <a:p/>
          <a:p>
            <a:pPr/>
            <a:r>
              <a:rPr>
                <a:solidFill>
                  <a:srgbClr val="C8C8FF"/>
                </a:solidFill>
                <a:latin typeface="Arial"/>
              </a:rPr>
              <a:t>2012年：AlexNet 以领先第二名10.8%的优势夺得 ImageNet 冠军，开启深度卷积神经网络时代。</a:t>
            </a:r>
          </a:p>
          <a:p>
            <a:pPr/>
            <a:r>
              <a:rPr>
                <a:solidFill>
                  <a:srgbClr val="C8C8FF"/>
                </a:solidFill>
                <a:latin typeface="Arial"/>
              </a:rPr>
              <a:t>2017年：Google 发表《Attention is All You Need》，提出 Transformer 架构，颠覆序列建模模式。</a:t>
            </a:r>
          </a:p>
          <a:p>
            <a:pPr/>
            <a:r>
              <a:rPr>
                <a:solidFill>
                  <a:srgbClr val="C8C8FF"/>
                </a:solidFill>
                <a:latin typeface="Arial"/>
              </a:rPr>
              <a:t>预训练大模型 (LLMs)：GPT-3 的 1750亿参数规模展示了模型容量与涌现能力 (Emergent Abilities) 的正相关性。</a:t>
            </a:r>
          </a:p>
          <a:p>
            <a:pPr/>
            <a:r>
              <a:rPr>
                <a:solidFill>
                  <a:srgbClr val="C8C8FF"/>
                </a:solidFill>
                <a:latin typeface="Arial"/>
              </a:rPr>
              <a:t>推理与对齐：利用 RLHF (基于人类反馈的强化学习) 解决了模型在道德与逻辑层面的幻觉问题。</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References</a:t>
            </a:r>
          </a:p>
        </p:txBody>
      </p:sp>
      <p:sp>
        <p:nvSpPr>
          <p:cNvPr id="3" name="Content Placeholder 2"/>
          <p:cNvSpPr>
            <a:spLocks noGrp="1"/>
          </p:cNvSpPr>
          <p:nvPr>
            <p:ph idx="1"/>
          </p:nvPr>
        </p:nvSpPr>
        <p:spPr/>
        <p:txBody>
          <a:bodyPr/>
          <a:lstStyle/>
          <a:p/>
          <a:p>
            <a:pPr>
              <a:defRPr sz="1200"/>
            </a:pPr>
            <a:r>
              <a:t>https://www.nih.gov/</a:t>
            </a:r>
          </a:p>
          <a:p>
            <a:pPr>
              <a:defRPr sz="1200"/>
            </a:pPr>
            <a:r>
              <a:t>https://scholar.google.com/</a:t>
            </a:r>
          </a:p>
          <a:p>
            <a:pPr>
              <a:defRPr sz="1200"/>
            </a:pPr>
            <a:r>
              <a:t>https://www.jstor.org/</a:t>
            </a:r>
          </a:p>
          <a:p>
            <a:pPr>
              <a:defRPr sz="1200"/>
            </a:pPr>
            <a:r>
              <a:t>https://en.wikipedia.org/wiki/Main_Page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FFA"/>
        </a:solidFill>
        <a:effectLst/>
      </p:bgPr>
    </p:bg>
    <p:spTree>
      <p:nvGrpSpPr>
        <p:cNvPr id="1" name=""/>
        <p:cNvGrpSpPr/>
        <p:nvPr/>
      </p:nvGrpSpPr>
      <p:grpSpPr/>
      <p:sp>
        <p:nvSpPr>
          <p:cNvPr id="2" name="Title 1"/>
          <p:cNvSpPr>
            <a:spLocks noGrp="1"/>
          </p:cNvSpPr>
          <p:nvPr>
            <p:ph type="ctrTitle"/>
          </p:nvPr>
        </p:nvSpPr>
        <p:spPr/>
        <p:txBody>
          <a:bodyPr/>
          <a:lstStyle/>
          <a:p>
            <a:r>
              <a:rPr>
                <a:solidFill>
                  <a:srgbClr val="228B22"/>
                </a:solidFill>
                <a:latin typeface="Georgia"/>
              </a:rPr>
              <a:t>代谢革命：基于现代营养学的长寿科学</a:t>
            </a:r>
          </a:p>
        </p:txBody>
      </p:sp>
      <p:sp>
        <p:nvSpPr>
          <p:cNvPr id="3" name="Subtitle 2"/>
          <p:cNvSpPr>
            <a:spLocks noGrp="1"/>
          </p:cNvSpPr>
          <p:nvPr>
            <p:ph type="subTitle" idx="1"/>
          </p:nvPr>
        </p:nvSpPr>
        <p:spPr/>
        <p:txBody>
          <a:bodyPr/>
          <a:lstStyle/>
          <a:p>
            <a:r>
              <a:rPr>
                <a:solidFill>
                  <a:srgbClr val="325032"/>
                </a:solidFill>
                <a:latin typeface="Georgia"/>
              </a:rPr>
              <a:t>Topic: 现代营养学与代谢健康科学</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FFA"/>
        </a:solidFill>
        <a:effectLst/>
      </p:bgPr>
    </p:bg>
    <p:spTree>
      <p:nvGrpSpPr>
        <p:cNvPr id="1" name=""/>
        <p:cNvGrpSpPr/>
        <p:nvPr/>
      </p:nvGrpSpPr>
      <p:grpSpPr/>
      <p:sp>
        <p:nvSpPr>
          <p:cNvPr id="2" name="Title 1"/>
          <p:cNvSpPr>
            <a:spLocks noGrp="1"/>
          </p:cNvSpPr>
          <p:nvPr>
            <p:ph type="title"/>
          </p:nvPr>
        </p:nvSpPr>
        <p:spPr/>
        <p:txBody>
          <a:bodyPr/>
          <a:lstStyle/>
          <a:p>
            <a:r>
              <a:rPr>
                <a:solidFill>
                  <a:srgbClr val="228B22"/>
                </a:solidFill>
                <a:latin typeface="Georgia"/>
              </a:rPr>
              <a:t>细胞能量代谢与胰岛素平衡</a:t>
            </a:r>
          </a:p>
        </p:txBody>
      </p:sp>
      <p:sp>
        <p:nvSpPr>
          <p:cNvPr id="3" name="Text Placeholder 2"/>
          <p:cNvSpPr>
            <a:spLocks noGrp="1"/>
          </p:cNvSpPr>
          <p:nvPr>
            <p:ph type="body" idx="1"/>
          </p:nvPr>
        </p:nvSpPr>
        <p:spPr/>
        <p:txBody>
          <a:bodyPr/>
          <a:lstStyle/>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FFA"/>
        </a:solidFill>
        <a:effectLst/>
      </p:bgPr>
    </p:bg>
    <p:spTree>
      <p:nvGrpSpPr>
        <p:cNvPr id="1" name=""/>
        <p:cNvGrpSpPr/>
        <p:nvPr/>
      </p:nvGrpSpPr>
      <p:grpSpPr/>
      <p:sp>
        <p:nvSpPr>
          <p:cNvPr id="2" name="Title 1"/>
          <p:cNvSpPr>
            <a:spLocks noGrp="1"/>
          </p:cNvSpPr>
          <p:nvPr>
            <p:ph type="title"/>
          </p:nvPr>
        </p:nvSpPr>
        <p:spPr/>
        <p:txBody>
          <a:bodyPr/>
          <a:lstStyle/>
          <a:p>
            <a:r>
              <a:rPr>
                <a:solidFill>
                  <a:srgbClr val="228B22"/>
                </a:solidFill>
                <a:latin typeface="Georgia"/>
              </a:rPr>
              <a:t>胰岛素敏感性：健康的万能钥匙</a:t>
            </a:r>
          </a:p>
        </p:txBody>
      </p:sp>
      <p:sp>
        <p:nvSpPr>
          <p:cNvPr id="3" name="Content Placeholder 2"/>
          <p:cNvSpPr>
            <a:spLocks noGrp="1"/>
          </p:cNvSpPr>
          <p:nvPr>
            <p:ph idx="1"/>
          </p:nvPr>
        </p:nvSpPr>
        <p:spPr/>
        <p:txBody>
          <a:bodyPr wrap="square"/>
          <a:lstStyle/>
          <a:p/>
          <a:p>
            <a:pPr/>
            <a:r>
              <a:rPr>
                <a:solidFill>
                  <a:srgbClr val="325032"/>
                </a:solidFill>
                <a:latin typeface="Georgia"/>
              </a:rPr>
              <a:t>胰岛素抵抗 (Insulin Resistance)：不仅是糖尿病前兆，更是 2 型糖尿病、多囊卵巢综合征 (PCOS) 的核心驱动因素。</a:t>
            </a:r>
          </a:p>
          <a:p>
            <a:pPr/>
            <a:r>
              <a:rPr>
                <a:solidFill>
                  <a:srgbClr val="325032"/>
                </a:solidFill>
                <a:latin typeface="Georgia"/>
              </a:rPr>
              <a:t>血糖波动的负面影响：餐后高血糖导致的糖基化终产物 (AGEs) 会加速血管内膜老化。</a:t>
            </a:r>
          </a:p>
          <a:p>
            <a:pPr/>
            <a:r>
              <a:rPr>
                <a:solidFill>
                  <a:srgbClr val="325032"/>
                </a:solidFill>
                <a:latin typeface="Georgia"/>
              </a:rPr>
              <a:t>低 GI 饮食策略：通过全谷物和高纤维摄入，维持血清能量供应的平滑曲线。</a:t>
            </a:r>
          </a:p>
          <a:p>
            <a:pPr/>
            <a:r>
              <a:rPr>
                <a:solidFill>
                  <a:srgbClr val="325032"/>
                </a:solidFill>
                <a:latin typeface="Georgia"/>
              </a:rPr>
              <a:t>动态血糖监测 (CGM)：现代医疗技术从盲目补给向实时精准控糖的转变。</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FFA"/>
        </a:solidFill>
        <a:effectLst/>
      </p:bgPr>
    </p:bg>
    <p:spTree>
      <p:nvGrpSpPr>
        <p:cNvPr id="1" name=""/>
        <p:cNvGrpSpPr/>
        <p:nvPr/>
      </p:nvGrpSpPr>
      <p:grpSpPr/>
      <p:sp>
        <p:nvSpPr>
          <p:cNvPr id="2" name="Title 1"/>
          <p:cNvSpPr>
            <a:spLocks noGrp="1"/>
          </p:cNvSpPr>
          <p:nvPr>
            <p:ph type="title"/>
          </p:nvPr>
        </p:nvSpPr>
        <p:spPr/>
        <p:txBody>
          <a:bodyPr/>
          <a:lstStyle/>
          <a:p>
            <a:r>
              <a:rPr>
                <a:solidFill>
                  <a:srgbClr val="228B22"/>
                </a:solidFill>
                <a:latin typeface="Georgia"/>
              </a:rPr>
              <a:t>线粒体功能与抗炎生活方式</a:t>
            </a:r>
          </a:p>
        </p:txBody>
      </p:sp>
      <p:sp>
        <p:nvSpPr>
          <p:cNvPr id="3" name="Text Placeholder 2"/>
          <p:cNvSpPr>
            <a:spLocks noGrp="1"/>
          </p:cNvSpPr>
          <p:nvPr>
            <p:ph type="body" idx="1"/>
          </p:nvPr>
        </p:nvSpPr>
        <p:spPr/>
        <p:txBody>
          <a:bodyPr/>
          <a:lstStyle/>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FFA"/>
        </a:solidFill>
        <a:effectLst/>
      </p:bgPr>
    </p:bg>
    <p:spTree>
      <p:nvGrpSpPr>
        <p:cNvPr id="1" name=""/>
        <p:cNvGrpSpPr/>
        <p:nvPr/>
      </p:nvGrpSpPr>
      <p:grpSpPr/>
      <p:sp>
        <p:nvSpPr>
          <p:cNvPr id="2" name="Title 1"/>
          <p:cNvSpPr>
            <a:spLocks noGrp="1"/>
          </p:cNvSpPr>
          <p:nvPr>
            <p:ph type="title"/>
          </p:nvPr>
        </p:nvSpPr>
        <p:spPr/>
        <p:txBody>
          <a:bodyPr/>
          <a:lstStyle/>
          <a:p>
            <a:r>
              <a:rPr>
                <a:solidFill>
                  <a:srgbClr val="228B22"/>
                </a:solidFill>
                <a:latin typeface="Georgia"/>
              </a:rPr>
              <a:t>线粒体：细胞的能量工厂</a:t>
            </a:r>
          </a:p>
        </p:txBody>
      </p:sp>
      <p:sp>
        <p:nvSpPr>
          <p:cNvPr id="3" name="Content Placeholder 2"/>
          <p:cNvSpPr>
            <a:spLocks noGrp="1"/>
          </p:cNvSpPr>
          <p:nvPr>
            <p:ph idx="1"/>
          </p:nvPr>
        </p:nvSpPr>
        <p:spPr/>
        <p:txBody>
          <a:bodyPr wrap="square"/>
          <a:lstStyle/>
          <a:p/>
          <a:p>
            <a:pPr/>
            <a:r>
              <a:rPr>
                <a:solidFill>
                  <a:srgbClr val="325032"/>
                </a:solidFill>
                <a:latin typeface="Georgia"/>
              </a:rPr>
              <a:t>线粒体自噬 (Mitophagy)：通过断食或高强度间歇训练 (HIIT) 触发坏死线粒体的自我清理。</a:t>
            </a:r>
          </a:p>
          <a:p>
            <a:pPr/>
            <a:r>
              <a:rPr>
                <a:solidFill>
                  <a:srgbClr val="325032"/>
                </a:solidFill>
                <a:latin typeface="Georgia"/>
              </a:rPr>
              <a:t>氧化压力与抗氧化平衡：SOD 等内源性酶在抵御超氧阴离子自由基中的核心作用。</a:t>
            </a:r>
          </a:p>
          <a:p>
            <a:pPr/>
            <a:r>
              <a:rPr>
                <a:solidFill>
                  <a:srgbClr val="325032"/>
                </a:solidFill>
                <a:latin typeface="Georgia"/>
              </a:rPr>
              <a:t>睡眠与线粒体修复：深度睡眠期是大脑清除代谢废物（β-淀粉样蛋白）的唯一窗口期。</a:t>
            </a:r>
          </a:p>
          <a:p>
            <a:pPr/>
            <a:r>
              <a:rPr>
                <a:solidFill>
                  <a:srgbClr val="325032"/>
                </a:solidFill>
                <a:latin typeface="Georgia"/>
              </a:rPr>
              <a:t>Omega-3s 的抗炎机制：通过调节细胞膜流动性来降低慢性系统性炎症水平。</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References</a:t>
            </a:r>
          </a:p>
        </p:txBody>
      </p:sp>
      <p:sp>
        <p:nvSpPr>
          <p:cNvPr id="3" name="Content Placeholder 2"/>
          <p:cNvSpPr>
            <a:spLocks noGrp="1"/>
          </p:cNvSpPr>
          <p:nvPr>
            <p:ph idx="1"/>
          </p:nvPr>
        </p:nvSpPr>
        <p:spPr/>
        <p:txBody>
          <a:bodyPr/>
          <a:lstStyle/>
          <a:p/>
          <a:p>
            <a:pPr>
              <a:defRPr sz="1200"/>
            </a:pPr>
            <a:r>
              <a:t>https://www.nih.gov/</a:t>
            </a:r>
          </a:p>
          <a:p>
            <a:pPr>
              <a:defRPr sz="1200"/>
            </a:pPr>
            <a:r>
              <a:t>https://scholar.google.com/</a:t>
            </a:r>
          </a:p>
          <a:p>
            <a:pPr>
              <a:defRPr sz="1200"/>
            </a:pPr>
            <a:r>
              <a:t>https://www.jstor.org/</a:t>
            </a:r>
          </a:p>
          <a:p>
            <a:pPr>
              <a:defRPr sz="1200"/>
            </a:pPr>
            <a:r>
              <a:t>https://en.wikipedia.org/wiki/Main_Page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AF0"/>
        </a:solidFill>
        <a:effectLst/>
      </p:bgPr>
    </p:bg>
    <p:spTree>
      <p:nvGrpSpPr>
        <p:cNvPr id="1" name=""/>
        <p:cNvGrpSpPr/>
        <p:nvPr/>
      </p:nvGrpSpPr>
      <p:grpSpPr/>
      <p:sp>
        <p:nvSpPr>
          <p:cNvPr id="2" name="Title 1"/>
          <p:cNvSpPr>
            <a:spLocks noGrp="1"/>
          </p:cNvSpPr>
          <p:nvPr>
            <p:ph type="ctrTitle"/>
          </p:nvPr>
        </p:nvSpPr>
        <p:spPr/>
        <p:txBody>
          <a:bodyPr/>
          <a:lstStyle/>
          <a:p>
            <a:r>
              <a:rPr>
                <a:solidFill>
                  <a:srgbClr val="C83296"/>
                </a:solidFill>
                <a:latin typeface="Verdana"/>
              </a:rPr>
              <a:t>透视与光影：文艺复兴艺术的技术巅峰</a:t>
            </a:r>
          </a:p>
        </p:txBody>
      </p:sp>
      <p:sp>
        <p:nvSpPr>
          <p:cNvPr id="3" name="Subtitle 2"/>
          <p:cNvSpPr>
            <a:spLocks noGrp="1"/>
          </p:cNvSpPr>
          <p:nvPr>
            <p:ph type="subTitle" idx="1"/>
          </p:nvPr>
        </p:nvSpPr>
        <p:spPr/>
        <p:txBody>
          <a:bodyPr/>
          <a:lstStyle/>
          <a:p>
            <a:r>
              <a:rPr>
                <a:solidFill>
                  <a:srgbClr val="3C283C"/>
                </a:solidFill>
                <a:latin typeface="Verdana"/>
              </a:rPr>
              <a:t>Topic: 文艺复兴大师与技法深度赏析</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AF0"/>
        </a:solidFill>
        <a:effectLst/>
      </p:bgPr>
    </p:bg>
    <p:spTree>
      <p:nvGrpSpPr>
        <p:cNvPr id="1" name=""/>
        <p:cNvGrpSpPr/>
        <p:nvPr/>
      </p:nvGrpSpPr>
      <p:grpSpPr/>
      <p:sp>
        <p:nvSpPr>
          <p:cNvPr id="2" name="Title 1"/>
          <p:cNvSpPr>
            <a:spLocks noGrp="1"/>
          </p:cNvSpPr>
          <p:nvPr>
            <p:ph type="title"/>
          </p:nvPr>
        </p:nvSpPr>
        <p:spPr/>
        <p:txBody>
          <a:bodyPr/>
          <a:lstStyle/>
          <a:p>
            <a:r>
              <a:rPr>
                <a:solidFill>
                  <a:srgbClr val="C83296"/>
                </a:solidFill>
                <a:latin typeface="Verdana"/>
              </a:rPr>
              <a:t>科学写实主义的黄金时代</a:t>
            </a:r>
          </a:p>
        </p:txBody>
      </p:sp>
      <p:sp>
        <p:nvSpPr>
          <p:cNvPr id="3" name="Text Placeholder 2"/>
          <p:cNvSpPr>
            <a:spLocks noGrp="1"/>
          </p:cNvSpPr>
          <p:nvPr>
            <p:ph type="body" idx="1"/>
          </p:nvPr>
        </p:nvSpPr>
        <p:spPr/>
        <p:txBody>
          <a:bodyPr/>
          <a:lstStyle/>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AF0"/>
        </a:solidFill>
        <a:effectLst/>
      </p:bgPr>
    </p:bg>
    <p:spTree>
      <p:nvGrpSpPr>
        <p:cNvPr id="1" name=""/>
        <p:cNvGrpSpPr/>
        <p:nvPr/>
      </p:nvGrpSpPr>
      <p:grpSpPr/>
      <p:sp>
        <p:nvSpPr>
          <p:cNvPr id="2" name="Title 1"/>
          <p:cNvSpPr>
            <a:spLocks noGrp="1"/>
          </p:cNvSpPr>
          <p:nvPr>
            <p:ph type="title"/>
          </p:nvPr>
        </p:nvSpPr>
        <p:spPr/>
        <p:txBody>
          <a:bodyPr/>
          <a:lstStyle/>
          <a:p>
            <a:r>
              <a:rPr>
                <a:solidFill>
                  <a:srgbClr val="C83296"/>
                </a:solidFill>
                <a:latin typeface="Verdana"/>
              </a:rPr>
              <a:t>数学视角的引入：线性透视法</a:t>
            </a:r>
          </a:p>
        </p:txBody>
      </p:sp>
      <p:sp>
        <p:nvSpPr>
          <p:cNvPr id="3" name="Content Placeholder 2"/>
          <p:cNvSpPr>
            <a:spLocks noGrp="1"/>
          </p:cNvSpPr>
          <p:nvPr>
            <p:ph idx="1"/>
          </p:nvPr>
        </p:nvSpPr>
        <p:spPr/>
        <p:txBody>
          <a:bodyPr wrap="square"/>
          <a:lstStyle/>
          <a:p/>
          <a:p>
            <a:pPr/>
            <a:r>
              <a:rPr>
                <a:solidFill>
                  <a:srgbClr val="3C283C"/>
                </a:solidFill>
                <a:latin typeface="Verdana"/>
              </a:rPr>
              <a:t>布鲁内莱斯基的发现：通过数学消失点 (Vanishing Point) 在二维平面还原三维物理空间。</a:t>
            </a:r>
          </a:p>
          <a:p>
            <a:pPr/>
            <a:r>
              <a:rPr>
                <a:solidFill>
                  <a:srgbClr val="3C283C"/>
                </a:solidFill>
                <a:latin typeface="Verdana"/>
              </a:rPr>
              <a:t>马萨乔的《圣三一》：西方艺术史上第一张严格遵循线性透视规则的大型湿壁画。</a:t>
            </a:r>
          </a:p>
          <a:p>
            <a:pPr/>
            <a:r>
              <a:rPr>
                <a:solidFill>
                  <a:srgbClr val="3C283C"/>
                </a:solidFill>
                <a:latin typeface="Verdana"/>
              </a:rPr>
              <a:t>缩短透视法 (Foreshortening)：使人体部位垂直于画平面，产生强烈的立体压缩感。</a:t>
            </a:r>
          </a:p>
          <a:p>
            <a:pPr/>
            <a:r>
              <a:rPr>
                <a:solidFill>
                  <a:srgbClr val="3C283C"/>
                </a:solidFill>
                <a:latin typeface="Verdana"/>
              </a:rPr>
              <a:t>艺术与科学的深度融合：艺术家由单纯的工匠转变为具备解剖学与光学知识的知识分子。</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AF0"/>
        </a:solidFill>
        <a:effectLst/>
      </p:bgPr>
    </p:bg>
    <p:spTree>
      <p:nvGrpSpPr>
        <p:cNvPr id="1" name=""/>
        <p:cNvGrpSpPr/>
        <p:nvPr/>
      </p:nvGrpSpPr>
      <p:grpSpPr/>
      <p:sp>
        <p:nvSpPr>
          <p:cNvPr id="2" name="Title 1"/>
          <p:cNvSpPr>
            <a:spLocks noGrp="1"/>
          </p:cNvSpPr>
          <p:nvPr>
            <p:ph type="title"/>
          </p:nvPr>
        </p:nvSpPr>
        <p:spPr/>
        <p:txBody>
          <a:bodyPr/>
          <a:lstStyle/>
          <a:p>
            <a:r>
              <a:rPr>
                <a:solidFill>
                  <a:srgbClr val="C83296"/>
                </a:solidFill>
                <a:latin typeface="Verdana"/>
              </a:rPr>
              <a:t>达芬奇与威尼斯画派的色彩革命</a:t>
            </a:r>
          </a:p>
        </p:txBody>
      </p:sp>
      <p:sp>
        <p:nvSpPr>
          <p:cNvPr id="3" name="Text Placeholder 2"/>
          <p:cNvSpPr>
            <a:spLocks noGrp="1"/>
          </p:cNvSpPr>
          <p:nvPr>
            <p:ph type="body" idx="1"/>
          </p:nvPr>
        </p:nvSpPr>
        <p:spPr/>
        <p:txBody>
          <a:bodyPr/>
          <a:lstStyle/>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AF0"/>
        </a:solidFill>
        <a:effectLst/>
      </p:bgPr>
    </p:bg>
    <p:spTree>
      <p:nvGrpSpPr>
        <p:cNvPr id="1" name=""/>
        <p:cNvGrpSpPr/>
        <p:nvPr/>
      </p:nvGrpSpPr>
      <p:grpSpPr/>
      <p:sp>
        <p:nvSpPr>
          <p:cNvPr id="2" name="Title 1"/>
          <p:cNvSpPr>
            <a:spLocks noGrp="1"/>
          </p:cNvSpPr>
          <p:nvPr>
            <p:ph type="title"/>
          </p:nvPr>
        </p:nvSpPr>
        <p:spPr/>
        <p:txBody>
          <a:bodyPr/>
          <a:lstStyle/>
          <a:p>
            <a:r>
              <a:rPr>
                <a:solidFill>
                  <a:srgbClr val="C83296"/>
                </a:solidFill>
                <a:latin typeface="Verdana"/>
              </a:rPr>
              <a:t>晕涂法与大气透视</a:t>
            </a:r>
          </a:p>
        </p:txBody>
      </p:sp>
      <p:sp>
        <p:nvSpPr>
          <p:cNvPr id="3" name="Content Placeholder 2"/>
          <p:cNvSpPr>
            <a:spLocks noGrp="1"/>
          </p:cNvSpPr>
          <p:nvPr>
            <p:ph idx="1"/>
          </p:nvPr>
        </p:nvSpPr>
        <p:spPr/>
        <p:txBody>
          <a:bodyPr wrap="square"/>
          <a:lstStyle/>
          <a:p/>
          <a:p>
            <a:pPr/>
            <a:r>
              <a:rPr>
                <a:solidFill>
                  <a:srgbClr val="3C283C"/>
                </a:solidFill>
                <a:latin typeface="Verdana"/>
              </a:rPr>
              <a:t>晕涂法 (Sfumato)：达芬奇通过层层薄釉色消除轮廓线，营造出如烟雾般的柔和过度。</a:t>
            </a:r>
          </a:p>
          <a:p>
            <a:pPr/>
            <a:r>
              <a:rPr>
                <a:solidFill>
                  <a:srgbClr val="3C283C"/>
                </a:solidFill>
                <a:latin typeface="Verdana"/>
              </a:rPr>
              <a:t>《蒙娜丽莎》中的色彩博弈：利用冷暖色调在背景中建立的大气远近感。</a:t>
            </a:r>
          </a:p>
          <a:p>
            <a:pPr/>
            <a:r>
              <a:rPr>
                <a:solidFill>
                  <a:srgbClr val="3C283C"/>
                </a:solidFill>
                <a:latin typeface="Verdana"/>
              </a:rPr>
              <a:t>威尼斯画派：提香与乔尔乔内对“色彩建构模型”的重视，挑战了佛罗伦萨的“素描中心论”。</a:t>
            </a:r>
          </a:p>
          <a:p>
            <a:pPr/>
            <a:r>
              <a:rPr>
                <a:solidFill>
                  <a:srgbClr val="3C283C"/>
                </a:solidFill>
                <a:latin typeface="Verdana"/>
              </a:rPr>
              <a:t>明暗对照法 (Chiaroscuro)：利用极端的光源对比，增强人物的情感张力与体积感。</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References</a:t>
            </a:r>
          </a:p>
        </p:txBody>
      </p:sp>
      <p:sp>
        <p:nvSpPr>
          <p:cNvPr id="3" name="Content Placeholder 2"/>
          <p:cNvSpPr>
            <a:spLocks noGrp="1"/>
          </p:cNvSpPr>
          <p:nvPr>
            <p:ph idx="1"/>
          </p:nvPr>
        </p:nvSpPr>
        <p:spPr/>
        <p:txBody>
          <a:bodyPr/>
          <a:lstStyle/>
          <a:p/>
          <a:p>
            <a:pPr>
              <a:defRPr sz="1200"/>
            </a:pPr>
            <a:r>
              <a:t>https://www.nih.gov/</a:t>
            </a:r>
          </a:p>
          <a:p>
            <a:pPr>
              <a:defRPr sz="1200"/>
            </a:pPr>
            <a:r>
              <a:t>https://scholar.google.com/</a:t>
            </a:r>
          </a:p>
          <a:p>
            <a:pPr>
              <a:defRPr sz="1200"/>
            </a:pPr>
            <a:r>
              <a:t>https://www.jstor.org/</a:t>
            </a:r>
          </a:p>
          <a:p>
            <a:pPr>
              <a:defRPr sz="1200"/>
            </a:pPr>
            <a:r>
              <a:t>https://en.wikipedia.org/wiki/Main_Page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ctrTitle"/>
          </p:nvPr>
        </p:nvSpPr>
        <p:spPr/>
        <p:txBody>
          <a:bodyPr/>
          <a:lstStyle/>
          <a:p>
            <a:r>
              <a:rPr>
                <a:solidFill>
                  <a:srgbClr val="0066CC"/>
                </a:solidFill>
                <a:latin typeface="Arial"/>
              </a:rPr>
              <a:t>The Quantum Leap: Synergy of Qubits and Neural Networks</a:t>
            </a:r>
          </a:p>
        </p:txBody>
      </p:sp>
      <p:sp>
        <p:nvSpPr>
          <p:cNvPr id="3" name="Subtitle 2"/>
          <p:cNvSpPr>
            <a:spLocks noGrp="1"/>
          </p:cNvSpPr>
          <p:nvPr>
            <p:ph type="subTitle" idx="1"/>
          </p:nvPr>
        </p:nvSpPr>
        <p:spPr/>
        <p:txBody>
          <a:bodyPr/>
          <a:lstStyle/>
          <a:p>
            <a:r>
              <a:rPr>
                <a:solidFill>
                  <a:srgbClr val="C8C8FF"/>
                </a:solidFill>
                <a:latin typeface="Arial"/>
              </a:rPr>
              <a:t>Topic: Quantum Computing and Generative AI</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title"/>
          </p:nvPr>
        </p:nvSpPr>
        <p:spPr/>
        <p:txBody>
          <a:bodyPr/>
          <a:lstStyle/>
          <a:p>
            <a:r>
              <a:rPr>
                <a:solidFill>
                  <a:srgbClr val="0066CC"/>
                </a:solidFill>
                <a:latin typeface="Arial"/>
              </a:rPr>
              <a:t>Quantum Mechanics as a Computing Paradigm</a:t>
            </a:r>
          </a:p>
        </p:txBody>
      </p:sp>
      <p:sp>
        <p:nvSpPr>
          <p:cNvPr id="3" name="Text Placeholder 2"/>
          <p:cNvSpPr>
            <a:spLocks noGrp="1"/>
          </p:cNvSpPr>
          <p:nvPr>
            <p:ph type="body" idx="1"/>
          </p:nvPr>
        </p:nvSpPr>
        <p:spPr/>
        <p:txBody>
          <a:bodyPr/>
          <a:lstStyle/>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title"/>
          </p:nvPr>
        </p:nvSpPr>
        <p:spPr/>
        <p:txBody>
          <a:bodyPr/>
          <a:lstStyle/>
          <a:p>
            <a:r>
              <a:rPr>
                <a:solidFill>
                  <a:srgbClr val="0066CC"/>
                </a:solidFill>
                <a:latin typeface="Arial"/>
              </a:rPr>
              <a:t>Superposition and Entanglement</a:t>
            </a:r>
          </a:p>
        </p:txBody>
      </p:sp>
      <p:sp>
        <p:nvSpPr>
          <p:cNvPr id="3" name="Content Placeholder 2"/>
          <p:cNvSpPr>
            <a:spLocks noGrp="1"/>
          </p:cNvSpPr>
          <p:nvPr>
            <p:ph idx="1"/>
          </p:nvPr>
        </p:nvSpPr>
        <p:spPr/>
        <p:txBody>
          <a:bodyPr wrap="square"/>
          <a:lstStyle/>
          <a:p/>
          <a:p>
            <a:pPr/>
            <a:r>
              <a:rPr>
                <a:solidFill>
                  <a:srgbClr val="C8C8FF"/>
                </a:solidFill>
                <a:latin typeface="Arial"/>
              </a:rPr>
              <a:t>Beyond Binary: Qubits leverage quantum superposition to represent |0⟩ and |1⟩ simultaneously.</a:t>
            </a:r>
          </a:p>
          <a:p>
            <a:pPr/>
            <a:r>
              <a:rPr>
                <a:solidFill>
                  <a:srgbClr val="C8C8FF"/>
                </a:solidFill>
                <a:latin typeface="Arial"/>
              </a:rPr>
              <a:t>Entanglement Dynamics: Correlating qubits to perform massively parallel state-space explorations.</a:t>
            </a:r>
          </a:p>
          <a:p>
            <a:pPr/>
            <a:r>
              <a:rPr>
                <a:solidFill>
                  <a:srgbClr val="C8C8FF"/>
                </a:solidFill>
                <a:latin typeface="Arial"/>
              </a:rPr>
              <a:t>Quantum Supremacy: Google's Sycamore processor solving tasks in 200 seconds that supercomputers take 10,000 years.</a:t>
            </a:r>
          </a:p>
          <a:p>
            <a:pPr/>
            <a:r>
              <a:rPr>
                <a:solidFill>
                  <a:srgbClr val="C8C8FF"/>
                </a:solidFill>
                <a:latin typeface="Arial"/>
              </a:rPr>
              <a:t>Error Mitigation: The challenge of decoherence and the quest for fault-tolerant logical qubits.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title"/>
          </p:nvPr>
        </p:nvSpPr>
        <p:spPr/>
        <p:txBody>
          <a:bodyPr/>
          <a:lstStyle/>
          <a:p>
            <a:r>
              <a:rPr>
                <a:solidFill>
                  <a:srgbClr val="0066CC"/>
                </a:solidFill>
                <a:latin typeface="Arial"/>
              </a:rPr>
              <a:t>AI's Next Hardware Frontier</a:t>
            </a:r>
          </a:p>
        </p:txBody>
      </p:sp>
      <p:sp>
        <p:nvSpPr>
          <p:cNvPr id="3" name="Text Placeholder 2"/>
          <p:cNvSpPr>
            <a:spLocks noGrp="1"/>
          </p:cNvSpPr>
          <p:nvPr>
            <p:ph type="body" idx="1"/>
          </p:nvPr>
        </p:nvSpPr>
        <p:spPr/>
        <p:txBody>
          <a:bodyPr/>
          <a:lstStyle/>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title"/>
          </p:nvPr>
        </p:nvSpPr>
        <p:spPr/>
        <p:txBody>
          <a:bodyPr/>
          <a:lstStyle/>
          <a:p>
            <a:r>
              <a:rPr>
                <a:solidFill>
                  <a:srgbClr val="0066CC"/>
                </a:solidFill>
                <a:latin typeface="Arial"/>
              </a:rPr>
              <a:t>Quantum Neural Networks (QNN)</a:t>
            </a:r>
          </a:p>
        </p:txBody>
      </p:sp>
      <p:sp>
        <p:nvSpPr>
          <p:cNvPr id="3" name="Content Placeholder 2"/>
          <p:cNvSpPr>
            <a:spLocks noGrp="1"/>
          </p:cNvSpPr>
          <p:nvPr>
            <p:ph idx="1"/>
          </p:nvPr>
        </p:nvSpPr>
        <p:spPr/>
        <p:txBody>
          <a:bodyPr wrap="square"/>
          <a:lstStyle/>
          <a:p/>
          <a:p>
            <a:pPr/>
            <a:r>
              <a:rPr>
                <a:solidFill>
                  <a:srgbClr val="C8C8FF"/>
                </a:solidFill>
                <a:latin typeface="Arial"/>
              </a:rPr>
              <a:t>Quantum-Classical Hybrids: Using variational circuits to optimize deep learning weights.</a:t>
            </a:r>
          </a:p>
          <a:p>
            <a:pPr/>
            <a:r>
              <a:rPr>
                <a:solidFill>
                  <a:srgbClr val="C8C8FF"/>
                </a:solidFill>
                <a:latin typeface="Arial"/>
              </a:rPr>
              <a:t>Infinite Context Windows: Processing complex drug-discovery data using quantum-enhanced transformers.</a:t>
            </a:r>
          </a:p>
          <a:p>
            <a:pPr/>
            <a:r>
              <a:rPr>
                <a:solidFill>
                  <a:srgbClr val="C8C8FF"/>
                </a:solidFill>
                <a:latin typeface="Arial"/>
              </a:rPr>
              <a:t>Sustainability: Theoretically reducing the massive carbon footprint of LLM training via specialized circuits.</a:t>
            </a:r>
          </a:p>
          <a:p>
            <a:pPr/>
            <a:r>
              <a:rPr>
                <a:solidFill>
                  <a:srgbClr val="C8C8FF"/>
                </a:solidFill>
                <a:latin typeface="Arial"/>
              </a:rPr>
              <a:t>The RSA Threat: Quantum algorithms (Shor’s) and the inevitable transition to Post-Quantum Cryptography (PQC).</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References</a:t>
            </a:r>
          </a:p>
        </p:txBody>
      </p:sp>
      <p:sp>
        <p:nvSpPr>
          <p:cNvPr id="3" name="Content Placeholder 2"/>
          <p:cNvSpPr>
            <a:spLocks noGrp="1"/>
          </p:cNvSpPr>
          <p:nvPr>
            <p:ph idx="1"/>
          </p:nvPr>
        </p:nvSpPr>
        <p:spPr/>
        <p:txBody>
          <a:bodyPr/>
          <a:lstStyle/>
          <a:p/>
          <a:p>
            <a:pPr>
              <a:defRPr sz="1200"/>
            </a:pPr>
            <a:r>
              <a:t>https://www.nih.gov/</a:t>
            </a:r>
          </a:p>
          <a:p>
            <a:pPr>
              <a:defRPr sz="1200"/>
            </a:pPr>
            <a:r>
              <a:t>https://scholar.google.com/</a:t>
            </a:r>
          </a:p>
          <a:p>
            <a:pPr>
              <a:defRPr sz="1200"/>
            </a:pPr>
            <a:r>
              <a:t>https://www.jstor.org/</a:t>
            </a:r>
          </a:p>
          <a:p>
            <a:pPr>
              <a:defRPr sz="1200"/>
            </a:pPr>
            <a:r>
              <a:t>https://en.wikipedia.org/wiki/Main_Page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5FFFA"/>
        </a:solidFill>
        <a:effectLst/>
      </p:bgPr>
    </p:bg>
    <p:spTree>
      <p:nvGrpSpPr>
        <p:cNvPr id="1" name=""/>
        <p:cNvGrpSpPr/>
        <p:nvPr/>
      </p:nvGrpSpPr>
      <p:grpSpPr/>
      <p:sp>
        <p:nvSpPr>
          <p:cNvPr id="2" name="Title 1"/>
          <p:cNvSpPr>
            <a:spLocks noGrp="1"/>
          </p:cNvSpPr>
          <p:nvPr>
            <p:ph type="ctrTitle"/>
          </p:nvPr>
        </p:nvSpPr>
        <p:spPr/>
        <p:txBody>
          <a:bodyPr/>
          <a:lstStyle/>
          <a:p>
            <a:r>
              <a:rPr>
                <a:solidFill>
                  <a:srgbClr val="228B22"/>
                </a:solidFill>
                <a:latin typeface="Georgia"/>
              </a:rPr>
              <a:t>The Longevity Code: Optimizing Human Lifespan</a:t>
            </a:r>
          </a:p>
        </p:txBody>
      </p:sp>
      <p:sp>
        <p:nvSpPr>
          <p:cNvPr id="3" name="Subtitle 2"/>
          <p:cNvSpPr>
            <a:spLocks noGrp="1"/>
          </p:cNvSpPr>
          <p:nvPr>
            <p:ph type="subTitle" idx="1"/>
          </p:nvPr>
        </p:nvSpPr>
        <p:spPr/>
        <p:txBody>
          <a:bodyPr/>
          <a:lstStyle/>
          <a:p>
            <a:r>
              <a:rPr>
                <a:solidFill>
                  <a:srgbClr val="325032"/>
                </a:solidFill>
                <a:latin typeface="Georgia"/>
              </a:rPr>
              <a:t>Topic: Science of Longevity: Nutrition and Sleep</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5FFFA"/>
        </a:solidFill>
        <a:effectLst/>
      </p:bgPr>
    </p:bg>
    <p:spTree>
      <p:nvGrpSpPr>
        <p:cNvPr id="1" name=""/>
        <p:cNvGrpSpPr/>
        <p:nvPr/>
      </p:nvGrpSpPr>
      <p:grpSpPr/>
      <p:sp>
        <p:nvSpPr>
          <p:cNvPr id="2" name="Title 1"/>
          <p:cNvSpPr>
            <a:spLocks noGrp="1"/>
          </p:cNvSpPr>
          <p:nvPr>
            <p:ph type="title"/>
          </p:nvPr>
        </p:nvSpPr>
        <p:spPr/>
        <p:txBody>
          <a:bodyPr/>
          <a:lstStyle/>
          <a:p>
            <a:r>
              <a:rPr>
                <a:solidFill>
                  <a:srgbClr val="228B22"/>
                </a:solidFill>
                <a:latin typeface="Georgia"/>
              </a:rPr>
              <a:t>Autophagy and The Biology of Fasting</a:t>
            </a:r>
          </a:p>
        </p:txBody>
      </p:sp>
      <p:sp>
        <p:nvSpPr>
          <p:cNvPr id="3" name="Text Placeholder 2"/>
          <p:cNvSpPr>
            <a:spLocks noGrp="1"/>
          </p:cNvSpPr>
          <p:nvPr>
            <p:ph type="body" idx="1"/>
          </p:nvPr>
        </p:nvSpPr>
        <p:spPr/>
        <p:txBody>
          <a:bodyPr/>
          <a:lstStyle/>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5FFFA"/>
        </a:solidFill>
        <a:effectLst/>
      </p:bgPr>
    </p:bg>
    <p:spTree>
      <p:nvGrpSpPr>
        <p:cNvPr id="1" name=""/>
        <p:cNvGrpSpPr/>
        <p:nvPr/>
      </p:nvGrpSpPr>
      <p:grpSpPr/>
      <p:sp>
        <p:nvSpPr>
          <p:cNvPr id="2" name="Title 1"/>
          <p:cNvSpPr>
            <a:spLocks noGrp="1"/>
          </p:cNvSpPr>
          <p:nvPr>
            <p:ph type="title"/>
          </p:nvPr>
        </p:nvSpPr>
        <p:spPr/>
        <p:txBody>
          <a:bodyPr/>
          <a:lstStyle/>
          <a:p>
            <a:r>
              <a:rPr>
                <a:solidFill>
                  <a:srgbClr val="228B22"/>
                </a:solidFill>
                <a:latin typeface="Georgia"/>
              </a:rPr>
              <a:t>Yoshinori Ohsumi’s Nobel Discovery</a:t>
            </a:r>
          </a:p>
        </p:txBody>
      </p:sp>
      <p:sp>
        <p:nvSpPr>
          <p:cNvPr id="3" name="Content Placeholder 2"/>
          <p:cNvSpPr>
            <a:spLocks noGrp="1"/>
          </p:cNvSpPr>
          <p:nvPr>
            <p:ph idx="1"/>
          </p:nvPr>
        </p:nvSpPr>
        <p:spPr/>
        <p:txBody>
          <a:bodyPr wrap="square"/>
          <a:lstStyle/>
          <a:p/>
          <a:p>
            <a:pPr/>
            <a:r>
              <a:rPr>
                <a:solidFill>
                  <a:srgbClr val="325032"/>
                </a:solidFill>
                <a:latin typeface="Georgia"/>
              </a:rPr>
              <a:t>Cellular Self-Cleaning: How cells degrade and recycle damaged components via lysosomes.</a:t>
            </a:r>
          </a:p>
          <a:p>
            <a:pPr/>
            <a:r>
              <a:rPr>
                <a:solidFill>
                  <a:srgbClr val="325032"/>
                </a:solidFill>
                <a:latin typeface="Georgia"/>
              </a:rPr>
              <a:t>mTOR Pathways: Inhibiting growth signals to promote longevity and cellular repair.</a:t>
            </a:r>
          </a:p>
          <a:p>
            <a:pPr/>
            <a:r>
              <a:rPr>
                <a:solidFill>
                  <a:srgbClr val="325032"/>
                </a:solidFill>
                <a:latin typeface="Georgia"/>
              </a:rPr>
              <a:t>Time-Restricted Feeding (TRF): Syncing intake windows with biological circadian rhythms.</a:t>
            </a:r>
          </a:p>
          <a:p>
            <a:pPr/>
            <a:r>
              <a:rPr>
                <a:solidFill>
                  <a:srgbClr val="325032"/>
                </a:solidFill>
                <a:latin typeface="Georgia"/>
              </a:rPr>
              <a:t>Senescent 'Zombie' Cells: The role of senolytics in removing inflammation-inducing cells.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References</a:t>
            </a:r>
          </a:p>
        </p:txBody>
      </p:sp>
      <p:sp>
        <p:nvSpPr>
          <p:cNvPr id="3" name="Content Placeholder 2"/>
          <p:cNvSpPr>
            <a:spLocks noGrp="1"/>
          </p:cNvSpPr>
          <p:nvPr>
            <p:ph idx="1"/>
          </p:nvPr>
        </p:nvSpPr>
        <p:spPr/>
        <p:txBody>
          <a:bodyPr/>
          <a:lstStyle/>
          <a:p/>
          <a:p>
            <a:pPr>
              <a:defRPr sz="1200"/>
            </a:pPr>
            <a:r>
              <a:t>https://www.nih.gov/</a:t>
            </a:r>
          </a:p>
          <a:p>
            <a:pPr>
              <a:defRPr sz="1200"/>
            </a:pPr>
            <a:r>
              <a:t>https://scholar.google.com/</a:t>
            </a:r>
          </a:p>
          <a:p>
            <a:pPr>
              <a:defRPr sz="1200"/>
            </a:pPr>
            <a:r>
              <a:t>https://www.jstor.org/</a:t>
            </a:r>
          </a:p>
          <a:p>
            <a:pPr>
              <a:defRPr sz="1200"/>
            </a:pPr>
            <a:r>
              <a:t>https://en.wikipedia.org/wiki/Main_Page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