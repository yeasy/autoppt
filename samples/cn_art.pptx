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本节重点讲解文艺复兴如何利用数学工具彻底改变了人类观察图像的方式。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分析达芬奇如何通过精妙的光学观察超越了机械的透视法，赋予肖像画以生命感。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ctrTitle"/>
          </p:nvPr>
        </p:nvSpPr>
        <p:spPr/>
        <p:txBody>
          <a:bodyPr/>
          <a:lstStyle/>
          <a:p>
            <a:r>
              <a:rPr>
                <a:solidFill>
                  <a:srgbClr val="C83296"/>
                </a:solidFill>
                <a:latin typeface="Verdana"/>
              </a:rPr>
              <a:t>透视与光影：文艺复兴艺术的技术巅峰</a:t>
            </a:r>
          </a:p>
        </p:txBody>
      </p:sp>
      <p:sp>
        <p:nvSpPr>
          <p:cNvPr id="3" name="Subtitle 2"/>
          <p:cNvSpPr>
            <a:spLocks noGrp="1"/>
          </p:cNvSpPr>
          <p:nvPr>
            <p:ph type="subTitle" idx="1"/>
          </p:nvPr>
        </p:nvSpPr>
        <p:spPr/>
        <p:txBody>
          <a:bodyPr/>
          <a:lstStyle/>
          <a:p>
            <a:r>
              <a:rPr>
                <a:solidFill>
                  <a:srgbClr val="3C283C"/>
                </a:solidFill>
                <a:latin typeface="Verdana"/>
              </a:rPr>
              <a:t>Topic: 文艺复兴大师与技法深度赏析</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科学写实主义的黄金时代</a:t>
            </a:r>
          </a:p>
        </p:txBody>
      </p:sp>
      <p:sp>
        <p:nvSpPr>
          <p:cNvPr id="3" name="Text Placeholder 2"/>
          <p:cNvSpPr>
            <a:spLocks noGrp="1"/>
          </p:cNvSpPr>
          <p:nvPr>
            <p:ph type="body" idx="1"/>
          </p:nvPr>
        </p:nvSpPr>
        <p:spPr/>
        <p:txBody>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数学视角的引入：线性透视法</a:t>
            </a:r>
          </a:p>
        </p:txBody>
      </p:sp>
      <p:sp>
        <p:nvSpPr>
          <p:cNvPr id="3" name="Content Placeholder 2"/>
          <p:cNvSpPr>
            <a:spLocks noGrp="1"/>
          </p:cNvSpPr>
          <p:nvPr>
            <p:ph idx="1"/>
          </p:nvPr>
        </p:nvSpPr>
        <p:spPr/>
        <p:txBody>
          <a:bodyPr wrap="square"/>
          <a:lstStyle/>
          <a:p/>
          <a:p>
            <a:pPr/>
            <a:r>
              <a:rPr>
                <a:solidFill>
                  <a:srgbClr val="3C283C"/>
                </a:solidFill>
                <a:latin typeface="Verdana"/>
              </a:rPr>
              <a:t>布鲁内莱斯基的发现：通过数学消失点 (Vanishing Point) 在二维平面还原三维物理空间。</a:t>
            </a:r>
          </a:p>
          <a:p>
            <a:pPr/>
            <a:r>
              <a:rPr>
                <a:solidFill>
                  <a:srgbClr val="3C283C"/>
                </a:solidFill>
                <a:latin typeface="Verdana"/>
              </a:rPr>
              <a:t>马萨乔的《圣三一》：西方艺术史上第一张严格遵循线性透视规则的大型湿壁画。</a:t>
            </a:r>
          </a:p>
          <a:p>
            <a:pPr/>
            <a:r>
              <a:rPr>
                <a:solidFill>
                  <a:srgbClr val="3C283C"/>
                </a:solidFill>
                <a:latin typeface="Verdana"/>
              </a:rPr>
              <a:t>缩短透视法 (Foreshortening)：使人体部位垂直于画平面，产生强烈的立体压缩感。</a:t>
            </a:r>
          </a:p>
          <a:p>
            <a:pPr/>
            <a:r>
              <a:rPr>
                <a:solidFill>
                  <a:srgbClr val="3C283C"/>
                </a:solidFill>
                <a:latin typeface="Verdana"/>
              </a:rPr>
              <a:t>艺术与科学的深度融合：艺术家由单纯的工匠转变为具备解剖学与光学知识的知识分子。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达芬奇与威尼斯画派的色彩革命</a:t>
            </a:r>
          </a:p>
        </p:txBody>
      </p:sp>
      <p:sp>
        <p:nvSpPr>
          <p:cNvPr id="3" name="Text Placeholder 2"/>
          <p:cNvSpPr>
            <a:spLocks noGrp="1"/>
          </p:cNvSpPr>
          <p:nvPr>
            <p:ph type="body" idx="1"/>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晕涂法与大气透视</a:t>
            </a:r>
          </a:p>
        </p:txBody>
      </p:sp>
      <p:sp>
        <p:nvSpPr>
          <p:cNvPr id="3" name="Content Placeholder 2"/>
          <p:cNvSpPr>
            <a:spLocks noGrp="1"/>
          </p:cNvSpPr>
          <p:nvPr>
            <p:ph idx="1"/>
          </p:nvPr>
        </p:nvSpPr>
        <p:spPr/>
        <p:txBody>
          <a:bodyPr wrap="square"/>
          <a:lstStyle/>
          <a:p/>
          <a:p>
            <a:pPr/>
            <a:r>
              <a:rPr>
                <a:solidFill>
                  <a:srgbClr val="3C283C"/>
                </a:solidFill>
                <a:latin typeface="Verdana"/>
              </a:rPr>
              <a:t>晕涂法 (Sfumato)：达芬奇通过层层薄釉色消除轮廓线，营造出如烟雾般的柔和过度。</a:t>
            </a:r>
          </a:p>
          <a:p>
            <a:pPr/>
            <a:r>
              <a:rPr>
                <a:solidFill>
                  <a:srgbClr val="3C283C"/>
                </a:solidFill>
                <a:latin typeface="Verdana"/>
              </a:rPr>
              <a:t>《蒙娜丽莎》中的色彩博弈：利用冷暖色调在背景中建立的大气远近感。</a:t>
            </a:r>
          </a:p>
          <a:p>
            <a:pPr/>
            <a:r>
              <a:rPr>
                <a:solidFill>
                  <a:srgbClr val="3C283C"/>
                </a:solidFill>
                <a:latin typeface="Verdana"/>
              </a:rPr>
              <a:t>威尼斯画派：提香与乔尔乔内对“色彩建构模型”的重视，挑战了佛罗伦萨的“素描中心论”。</a:t>
            </a:r>
          </a:p>
          <a:p>
            <a:pPr/>
            <a:r>
              <a:rPr>
                <a:solidFill>
                  <a:srgbClr val="3C283C"/>
                </a:solidFill>
                <a:latin typeface="Verdana"/>
              </a:rPr>
              <a:t>明暗对照法 (Chiaroscuro)：利用极端的光源对比，增强人物的情感张力与体积感。</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https://zh.wikipedia.org/wiki/文艺复兴艺术</a:t>
            </a:r>
          </a:p>
          <a:p>
            <a:pPr>
              <a:defRPr sz="1200"/>
            </a:pPr>
            <a:r>
              <a:t>https://zh.wikipedia.org/wiki/列奥纳多·达·芬奇</a:t>
            </a:r>
          </a:p>
          <a:p>
            <a:pPr>
              <a:defRPr sz="1200"/>
            </a:pPr>
            <a:r>
              <a:t>https://www.metmuseum.org/toah/hd/itar/hd_itar.htm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