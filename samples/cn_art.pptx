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CC9C48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30"/>
              </a:spcAft>
              <a:defRPr sz="4600" b="1" i="0">
                <a:solidFill>
                  <a:srgbClr val="E2BF5A"/>
                </a:solidFill>
                <a:latin typeface="Georgia"/>
              </a:defRPr>
            </a:pPr>
            <a:r>
              <a:t>文艺复兴艺术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5BCA9"/>
                </a:solidFill>
                <a:latin typeface="Georgia"/>
              </a:defRPr>
            </a:pPr>
            <a:r>
              <a:t>一场关于空间、身体与权力的视觉重写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371600" cy="45720"/>
          </a:xfrm>
          <a:prstGeom prst="rect">
            <a:avLst/>
          </a:prstGeom>
          <a:solidFill>
            <a:srgbClr val="CC9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0om53a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Georgia"/>
              </a:defRPr>
            </a:pPr>
            <a:r>
              <a:t>展陈式开场页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Georgia"/>
              </a:defRPr>
            </a:pPr>
            <a:r>
              <a:t>更适合艺术与文化主题的海报感开场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CC9C48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E2BF5A"/>
                </a:solidFill>
                <a:latin typeface="Georgia"/>
              </a:defRPr>
            </a:pPr>
            <a:r>
              <a:t>透视法不只是绘画技巧，而是一种组织世界的新方式。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5BCA9"/>
                </a:solidFill>
                <a:latin typeface="Georgia"/>
              </a:defRPr>
            </a:pPr>
            <a:r>
              <a:t>— AutoPPT Sample Desk, Art History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2BF5A"/>
                </a:solidFill>
                <a:latin typeface="Georgia"/>
              </a:defRPr>
            </a:pPr>
            <a:r>
              <a:t>为什么它今天仍然现代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CC9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空间开始有逻辑。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人物开始有重量。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观看开始带有立场。</a:t>
            </a:r>
          </a:p>
        </p:txBody>
      </p:sp>
      <p:pic>
        <p:nvPicPr>
          <p:cNvPr id="7" name="Picture 6" descr="tmpc9_60e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3_6ood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Georgia"/>
              </a:defRPr>
            </a:pPr>
            <a:r>
              <a:t>作品墙式图片页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Georgia"/>
              </a:defRPr>
            </a:pPr>
            <a:r>
              <a:t>用整页图片维持观看节奏，而不是把每页都塞满说明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2BF5A"/>
                </a:solidFill>
                <a:latin typeface="Georgia"/>
              </a:defRPr>
            </a:pPr>
            <a:r>
              <a:t>早期 vs 盛期文艺复兴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CC9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C9C48"/>
                </a:solidFill>
                <a:latin typeface="Aptos"/>
              </a:defRPr>
            </a:pPr>
            <a:r>
              <a:t>早期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C9C48"/>
                </a:solidFill>
                <a:latin typeface="Aptos"/>
              </a:defRPr>
            </a:pPr>
            <a:r>
              <a:t>盛期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结构实验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透视成形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情绪克制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构图平衡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身体成熟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理想美成型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2BF5A"/>
                </a:solidFill>
                <a:latin typeface="Georgia"/>
              </a:defRPr>
            </a:pPr>
            <a:r>
              <a:t>如何读一幅作品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CC9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C9C48"/>
                </a:solidFill>
                <a:latin typeface="Aptos"/>
              </a:defRPr>
            </a:pPr>
            <a:r>
              <a:t>形式线索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CC9C48"/>
                </a:solidFill>
                <a:latin typeface="Aptos"/>
              </a:defRPr>
            </a:pPr>
            <a:r>
              <a:t>文化线索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空间组织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光影处理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姿态比例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赞助人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宗教背景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AE8E2"/>
                </a:solidFill>
                <a:latin typeface="Georgia"/>
              </a:defRPr>
            </a:pPr>
            <a:r>
              <a:t>古典引用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61C"/>
            </a:gs>
            <a:gs pos="100000">
              <a:srgbClr val="362A3A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2BF5A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CC9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262028"/>
          </a:solidFill>
          <a:ln w="15875">
            <a:solidFill>
              <a:srgbClr val="6F5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EAE8E2"/>
                </a:solidFill>
                <a:latin typeface="Georgia"/>
              </a:defRPr>
            </a:pPr>
            <a:r>
              <a:t>https://www.uffizi.it/en/the-uffizi</a:t>
            </a:r>
          </a:p>
          <a:p>
            <a:pPr>
              <a:spcAft>
                <a:spcPts val="44"/>
              </a:spcAft>
              <a:defRPr sz="1100" b="0" i="0">
                <a:solidFill>
                  <a:srgbClr val="EAE8E2"/>
                </a:solidFill>
                <a:latin typeface="Georgia"/>
              </a:defRPr>
            </a:pPr>
            <a:r>
              <a:t>https://www.metmuseum.org/toah/hd/itar/hd_itar.htm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