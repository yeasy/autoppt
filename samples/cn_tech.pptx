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Capability Index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Capability Index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42.0</c:v>
                </c:pt>
                <c:pt idx="1">
                  <c:v>58.0</c:v>
                </c:pt>
                <c:pt idx="2">
                  <c:v>71.0</c:v>
                </c:pt>
                <c:pt idx="3">
                  <c:v>83.0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42A2"/>
            </a:gs>
            <a:gs pos="100000">
              <a:srgbClr val="6C2DA4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292608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1" i="0">
                <a:solidFill>
                  <a:srgbClr val="4FD8FF"/>
                </a:solidFill>
                <a:latin typeface="Aptos"/>
              </a:defRPr>
            </a:pPr>
            <a:r>
              <a:t>AUTOPPT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22376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30"/>
              </a:spcAft>
              <a:defRPr sz="4600" b="1" i="0">
                <a:solidFill>
                  <a:srgbClr val="FFFFFF"/>
                </a:solidFill>
                <a:latin typeface="Aptos Display"/>
              </a:defRPr>
            </a:pPr>
            <a:r>
              <a:t>人工智能与未来科技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1"/>
            <a:ext cx="7498079" cy="82296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C6C9EA"/>
                </a:solidFill>
                <a:latin typeface="Aptos"/>
              </a:defRPr>
            </a:pPr>
            <a:r>
              <a:t>从模型能力到可运营系统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371600" cy="45720"/>
          </a:xfrm>
          <a:prstGeom prst="rect">
            <a:avLst/>
          </a:prstGeom>
          <a:solidFill>
            <a:srgbClr val="4F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840480" cy="132588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267712"/>
            <a:ext cx="3657600" cy="117957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PowerPoint-native output</a:t>
            </a:r>
          </a:p>
          <a:p>
            <a:pPr>
              <a:spcAft>
                <a:spcPts val="144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Layout-aware slide planning</a:t>
            </a:r>
          </a:p>
          <a:p>
            <a:pPr>
              <a:spcAft>
                <a:spcPts val="144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Template and remix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42A2"/>
            </a:gs>
            <a:gs pos="100000">
              <a:srgbClr val="6C2DA4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ccvljwj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7863840" cy="10972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552"/>
              </a:spcAft>
              <a:defRPr sz="4600" b="1" i="0">
                <a:solidFill>
                  <a:srgbClr val="FFFFFF"/>
                </a:solidFill>
                <a:latin typeface="Aptos Display"/>
              </a:defRPr>
            </a:pPr>
            <a:r>
              <a:t>平台化时代的 AI 界面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44768"/>
            <a:ext cx="7863840" cy="2743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0" i="0">
                <a:solidFill>
                  <a:srgbClr val="F4F7FA"/>
                </a:solidFill>
                <a:latin typeface="Aptos"/>
              </a:defRPr>
            </a:pPr>
            <a:r>
              <a:t>高保真视觉页，强调未来感与系统规模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42A2"/>
            </a:gs>
            <a:gs pos="100000">
              <a:srgbClr val="6C2DA4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FFFFFF"/>
                </a:solidFill>
                <a:latin typeface="Aptos Display"/>
              </a:defRPr>
            </a:pPr>
            <a:r>
              <a:t>平台化速度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371600" cy="45720"/>
          </a:xfrm>
          <a:prstGeom prst="rect">
            <a:avLst/>
          </a:prstGeom>
          <a:solidFill>
            <a:srgbClr val="4F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2011680"/>
            <a:ext cx="2462783" cy="192024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2304288"/>
            <a:ext cx="2316479" cy="7315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408"/>
              </a:spcAft>
              <a:defRPr sz="3400" b="1" i="0">
                <a:solidFill>
                  <a:srgbClr val="4FD8FF"/>
                </a:solidFill>
                <a:latin typeface="Aptos Display"/>
              </a:defRPr>
            </a:pPr>
            <a:r>
              <a:t>78%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3127248"/>
            <a:ext cx="2316479" cy="6400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168"/>
              </a:spcAft>
              <a:defRPr sz="1400" b="0" i="0">
                <a:solidFill>
                  <a:srgbClr val="E7E9FF"/>
                </a:solidFill>
                <a:latin typeface="Aptos"/>
              </a:defRPr>
            </a:pPr>
            <a:r>
              <a:t>团队已试点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0607" y="2011680"/>
            <a:ext cx="2462783" cy="192024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13759" y="2304288"/>
            <a:ext cx="2316479" cy="7315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408"/>
              </a:spcAft>
              <a:defRPr sz="3400" b="1" i="0">
                <a:solidFill>
                  <a:srgbClr val="4FD8FF"/>
                </a:solidFill>
                <a:latin typeface="Aptos Display"/>
              </a:defRPr>
            </a:pPr>
            <a:r>
              <a:t>3x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3759" y="3127248"/>
            <a:ext cx="2316479" cy="6400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168"/>
              </a:spcAft>
              <a:defRPr sz="1400" b="0" i="0">
                <a:solidFill>
                  <a:srgbClr val="E7E9FF"/>
                </a:solidFill>
                <a:latin typeface="Aptos"/>
              </a:defRPr>
            </a:pPr>
            <a:r>
              <a:t>成熟团队交付速度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22847" y="2011680"/>
            <a:ext cx="2462783" cy="192024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5999" y="2304288"/>
            <a:ext cx="2316479" cy="7315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408"/>
              </a:spcAft>
              <a:defRPr sz="3400" b="1" i="0">
                <a:solidFill>
                  <a:srgbClr val="4FD8FF"/>
                </a:solidFill>
                <a:latin typeface="Aptos Display"/>
              </a:defRPr>
            </a:pPr>
            <a:r>
              <a:t>24 个月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999" y="3127248"/>
            <a:ext cx="2316479" cy="6400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168"/>
              </a:spcAft>
              <a:defRPr sz="1400" b="0" i="0">
                <a:solidFill>
                  <a:srgbClr val="E7E9FF"/>
                </a:solidFill>
                <a:latin typeface="Aptos"/>
              </a:defRPr>
            </a:pPr>
            <a:r>
              <a:t>重构窗口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42A2"/>
            </a:gs>
            <a:gs pos="100000">
              <a:srgbClr val="6C2DA4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FFFFFF"/>
                </a:solidFill>
                <a:latin typeface="Aptos Display"/>
              </a:defRPr>
            </a:pPr>
            <a:r>
              <a:t>真正变化的不是模型，而是工作流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371600" cy="45720"/>
          </a:xfrm>
          <a:prstGeom prst="rect">
            <a:avLst/>
          </a:prstGeom>
          <a:solidFill>
            <a:srgbClr val="4F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80160"/>
            <a:ext cx="4315967" cy="502920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85231" y="1280160"/>
            <a:ext cx="3200400" cy="502920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325880"/>
            <a:ext cx="4224527" cy="493776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模型正在变成默认界面。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评测与路由进入主链路。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治理比参数更先决定 ROI。</a:t>
            </a:r>
          </a:p>
        </p:txBody>
      </p:sp>
      <p:pic>
        <p:nvPicPr>
          <p:cNvPr id="7" name="Picture 6" descr="tmpcvrgpc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1" y="1280160"/>
            <a:ext cx="3200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42A2"/>
            </a:gs>
            <a:gs pos="100000">
              <a:srgbClr val="6C2DA4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FFFFFF"/>
                </a:solidFill>
                <a:latin typeface="Aptos Display"/>
              </a:defRPr>
            </a:pPr>
            <a:r>
              <a:t>局部工具 vs 平台能力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371600" cy="45720"/>
          </a:xfrm>
          <a:prstGeom prst="rect">
            <a:avLst/>
          </a:prstGeom>
          <a:solidFill>
            <a:srgbClr val="4F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80160"/>
            <a:ext cx="3758183" cy="502920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27447" y="1280160"/>
            <a:ext cx="3758183" cy="502920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4FD8FF"/>
                </a:solidFill>
                <a:latin typeface="Aptos"/>
              </a:defRPr>
            </a:pPr>
            <a:r>
              <a:t>局部工具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59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4FD8FF"/>
                </a:solidFill>
                <a:latin typeface="Aptos"/>
              </a:defRPr>
            </a:pPr>
            <a:r>
              <a:t>平台能力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单点提效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接口重复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质量波动大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59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统一路由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共享知识层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上线成本更低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42A2"/>
            </a:gs>
            <a:gs pos="100000">
              <a:srgbClr val="6C2DA4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FFFFFF"/>
                </a:solidFill>
                <a:latin typeface="Aptos Display"/>
              </a:defRPr>
            </a:pPr>
            <a:r>
              <a:t>模型能力曲线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371600" cy="45720"/>
          </a:xfrm>
          <a:prstGeom prst="rect">
            <a:avLst/>
          </a:prstGeom>
          <a:solidFill>
            <a:srgbClr val="4F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6656" y="1344168"/>
            <a:ext cx="7735824" cy="4535424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49808" y="1417320"/>
          <a:ext cx="75895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42A2"/>
            </a:gs>
            <a:gs pos="100000">
              <a:srgbClr val="6C2DA4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FFFFFF"/>
                </a:solidFill>
                <a:latin typeface="Aptos Display"/>
              </a:defRPr>
            </a:pPr>
            <a:r>
              <a:t>企业 AI 操作模型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371600" cy="45720"/>
          </a:xfrm>
          <a:prstGeom prst="rect">
            <a:avLst/>
          </a:prstGeom>
          <a:solidFill>
            <a:srgbClr val="4F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80160"/>
            <a:ext cx="3758183" cy="502920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27447" y="1280160"/>
            <a:ext cx="3758183" cy="502920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4FD8FF"/>
                </a:solidFill>
                <a:latin typeface="Aptos"/>
              </a:defRPr>
            </a:pPr>
            <a:r>
              <a:t>建设层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59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4FD8FF"/>
                </a:solidFill>
                <a:latin typeface="Aptos"/>
              </a:defRPr>
            </a:pPr>
            <a:r>
              <a:t>控制层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模型与编排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检索与工具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反馈与评测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59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风险分级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预算护栏</a:t>
            </a:r>
          </a:p>
          <a:p>
            <a:pPr>
              <a:spcAft>
                <a:spcPts val="180"/>
              </a:spcAft>
              <a:defRPr sz="1800" b="0" i="0">
                <a:solidFill>
                  <a:srgbClr val="E7E9FF"/>
                </a:solidFill>
                <a:latin typeface="Aptos"/>
              </a:defRPr>
            </a:pPr>
            <a:r>
              <a:t>业务负责人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42A2"/>
            </a:gs>
            <a:gs pos="100000">
              <a:srgbClr val="6C2DA4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7315200" cy="438912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325880"/>
            <a:ext cx="914400" cy="9144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104"/>
              </a:spcAft>
              <a:defRPr sz="9200" b="1" i="0">
                <a:solidFill>
                  <a:srgbClr val="4FD8FF"/>
                </a:solidFill>
                <a:latin typeface="Aptos Display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6309360" cy="22860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56"/>
              </a:spcAft>
              <a:defRPr sz="2600" b="0" i="1">
                <a:solidFill>
                  <a:srgbClr val="FFFFFF"/>
                </a:solidFill>
                <a:latin typeface="Aptos Display"/>
              </a:defRPr>
            </a:pPr>
            <a:r>
              <a:t>真正的优势来自工作方式重构，而不只是把模型接进流程。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6309360" cy="4572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C6C9EA"/>
                </a:solidFill>
                <a:latin typeface="Aptos"/>
              </a:defRPr>
            </a:pPr>
            <a:r>
              <a:t>— AutoPPT Sample Desk, AI Operating Model Notes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C42A2"/>
            </a:gs>
            <a:gs pos="100000">
              <a:srgbClr val="6C2DA4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FFFFFF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371600" cy="45720"/>
          </a:xfrm>
          <a:prstGeom prst="rect">
            <a:avLst/>
          </a:prstGeom>
          <a:solidFill>
            <a:srgbClr val="4F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80160"/>
            <a:ext cx="7827263" cy="5029200"/>
          </a:xfrm>
          <a:prstGeom prst="roundRect">
            <a:avLst/>
          </a:prstGeom>
          <a:solidFill>
            <a:srgbClr val="222A76"/>
          </a:solidFill>
          <a:ln w="15875">
            <a:solidFill>
              <a:srgbClr val="7C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353312"/>
            <a:ext cx="7680959" cy="48828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44"/>
              </a:spcAft>
              <a:defRPr sz="1100" b="0" i="0">
                <a:solidFill>
                  <a:srgbClr val="E7E9FF"/>
                </a:solidFill>
                <a:latin typeface="Aptos"/>
              </a:defRPr>
            </a:pPr>
            <a:r>
              <a:t>https://www.mckinsey.com/capabilities/quantumblack/our-insights/the-state-of-ai</a:t>
            </a:r>
          </a:p>
          <a:p>
            <a:pPr>
              <a:spcAft>
                <a:spcPts val="44"/>
              </a:spcAft>
              <a:defRPr sz="1100" b="0" i="0">
                <a:solidFill>
                  <a:srgbClr val="E7E9FF"/>
                </a:solidFill>
                <a:latin typeface="Aptos"/>
              </a:defRPr>
            </a:pPr>
            <a:r>
              <a:t>https://www.nature.com/subjects/artificial-intelligence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