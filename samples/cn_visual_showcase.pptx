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2121C"/>
            </a:gs>
            <a:gs pos="100000">
              <a:srgbClr val="2E1652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292608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4"/>
              </a:spcAft>
              <a:defRPr sz="1200" b="1" i="0">
                <a:solidFill>
                  <a:srgbClr val="58D6C6"/>
                </a:solidFill>
                <a:latin typeface="Aptos"/>
              </a:defRPr>
            </a:pPr>
            <a:r>
              <a:t>AUTOPPT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22376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0"/>
              </a:spcAft>
              <a:defRPr sz="4200" b="1" i="0">
                <a:solidFill>
                  <a:srgbClr val="EAF6FF"/>
                </a:solidFill>
                <a:latin typeface="Aptos Display"/>
              </a:defRPr>
            </a:pPr>
            <a:r>
              <a:t>视觉型展示样例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73351"/>
            <a:ext cx="7498079" cy="82296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0" i="0">
                <a:solidFill>
                  <a:srgbClr val="9AA6B8"/>
                </a:solidFill>
                <a:latin typeface="Aptos"/>
              </a:defRPr>
            </a:pPr>
            <a:r>
              <a:t>面向图片主导型 deck 的高保真示例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840480" cy="1325880"/>
          </a:xfrm>
          <a:prstGeom prst="roundRect">
            <a:avLst/>
          </a:prstGeom>
          <a:solidFill>
            <a:srgbClr val="141C2A"/>
          </a:solidFill>
          <a:ln w="15875">
            <a:solidFill>
              <a:srgbClr val="485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2267712"/>
            <a:ext cx="3657600" cy="117957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4"/>
              </a:spcAft>
              <a:defRPr sz="1800" b="0" i="0">
                <a:solidFill>
                  <a:srgbClr val="D4DBE4"/>
                </a:solidFill>
                <a:latin typeface="Aptos"/>
              </a:defRPr>
            </a:pPr>
            <a:r>
              <a:t>PowerPoint-native output</a:t>
            </a:r>
          </a:p>
          <a:p>
            <a:pPr>
              <a:spcAft>
                <a:spcPts val="144"/>
              </a:spcAft>
              <a:defRPr sz="1800" b="0" i="0">
                <a:solidFill>
                  <a:srgbClr val="D4DBE4"/>
                </a:solidFill>
                <a:latin typeface="Aptos"/>
              </a:defRPr>
            </a:pPr>
            <a:r>
              <a:t>Layout-aware slide planning</a:t>
            </a:r>
          </a:p>
          <a:p>
            <a:pPr>
              <a:spcAft>
                <a:spcPts val="144"/>
              </a:spcAft>
              <a:defRPr sz="1800" b="0" i="0">
                <a:solidFill>
                  <a:srgbClr val="D4DBE4"/>
                </a:solidFill>
                <a:latin typeface="Aptos"/>
              </a:defRPr>
            </a:pPr>
            <a:r>
              <a:t>Template and remix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2121C"/>
            </a:gs>
            <a:gs pos="100000">
              <a:srgbClr val="2E1652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8dcvg56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8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0"/>
            <a:ext cx="7863840" cy="10972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504"/>
              </a:spcAft>
              <a:defRPr sz="4200" b="1" i="0">
                <a:solidFill>
                  <a:srgbClr val="FFFFFF"/>
                </a:solidFill>
                <a:latin typeface="Aptos Display"/>
              </a:defRPr>
            </a:pPr>
            <a:r>
              <a:t>智能城市氛围页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44768"/>
            <a:ext cx="7863840" cy="2743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4"/>
              </a:spcAft>
              <a:defRPr sz="1200" b="0" i="0">
                <a:solidFill>
                  <a:srgbClr val="F4F7FA"/>
                </a:solidFill>
                <a:latin typeface="Aptos"/>
              </a:defRPr>
            </a:pPr>
            <a:r>
              <a:t>程序化生成的高保真视觉素材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2121C"/>
            </a:gs>
            <a:gs pos="100000">
              <a:srgbClr val="2E1652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292608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4"/>
              </a:spcAft>
              <a:defRPr sz="1200" b="1" i="0">
                <a:solidFill>
                  <a:srgbClr val="58D6C6"/>
                </a:solidFill>
                <a:latin typeface="Aptos"/>
              </a:defRPr>
            </a:pPr>
            <a:r>
              <a:t>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22376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0"/>
              </a:spcAft>
              <a:defRPr sz="4200" b="1" i="0">
                <a:solidFill>
                  <a:srgbClr val="EAF6FF"/>
                </a:solidFill>
                <a:latin typeface="Aptos Display"/>
              </a:defRPr>
            </a:pPr>
            <a:r>
              <a:t>先建立气氛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160520"/>
            <a:ext cx="2194560" cy="219456"/>
          </a:xfrm>
          <a:prstGeom prst="roundRect">
            <a:avLst/>
          </a:prstGeom>
          <a:solidFill>
            <a:srgbClr val="58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2121C"/>
            </a:gs>
            <a:gs pos="100000">
              <a:srgbClr val="2E1652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330y0d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8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0"/>
            <a:ext cx="7863840" cy="10972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504"/>
              </a:spcAft>
              <a:defRPr sz="4200" b="1" i="0">
                <a:solidFill>
                  <a:srgbClr val="FFFFFF"/>
                </a:solidFill>
                <a:latin typeface="Aptos Display"/>
              </a:defRPr>
            </a:pPr>
            <a:r>
              <a:t>展陈海报风格页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44768"/>
            <a:ext cx="7863840" cy="2743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4"/>
              </a:spcAft>
              <a:defRPr sz="1200" b="0" i="0">
                <a:solidFill>
                  <a:srgbClr val="F4F7FA"/>
                </a:solidFill>
                <a:latin typeface="Aptos"/>
              </a:defRPr>
            </a:pPr>
            <a:r>
              <a:t>让整页视觉先占据舞台，再压缩说明文字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2121C"/>
            </a:gs>
            <a:gs pos="100000">
              <a:srgbClr val="2E1652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EAF6FF"/>
                </a:solidFill>
                <a:latin typeface="Aptos Display"/>
              </a:defRPr>
            </a:pPr>
            <a:r>
              <a:t>视觉页真正有用的地方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280160"/>
            <a:ext cx="4315967" cy="5029200"/>
          </a:xfrm>
          <a:prstGeom prst="roundRect">
            <a:avLst/>
          </a:prstGeom>
          <a:solidFill>
            <a:srgbClr val="141C2A"/>
          </a:solidFill>
          <a:ln w="15875">
            <a:solidFill>
              <a:srgbClr val="485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285231" y="1280160"/>
            <a:ext cx="3200400" cy="5029200"/>
          </a:xfrm>
          <a:prstGeom prst="roundRect">
            <a:avLst/>
          </a:prstGeom>
          <a:solidFill>
            <a:srgbClr val="141C2A"/>
          </a:solidFill>
          <a:ln w="15875">
            <a:solidFill>
              <a:srgbClr val="485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325880"/>
            <a:ext cx="4224527" cy="493776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80"/>
              </a:spcAft>
              <a:defRPr sz="1800" b="0" i="0">
                <a:solidFill>
                  <a:srgbClr val="D4DBE4"/>
                </a:solidFill>
                <a:latin typeface="Aptos"/>
              </a:defRPr>
            </a:pPr>
            <a:r>
              <a:t>它先定义节奏。</a:t>
            </a:r>
          </a:p>
          <a:p>
            <a:pPr>
              <a:spcAft>
                <a:spcPts val="180"/>
              </a:spcAft>
              <a:defRPr sz="1800" b="0" i="0">
                <a:solidFill>
                  <a:srgbClr val="D4DBE4"/>
                </a:solidFill>
                <a:latin typeface="Aptos"/>
              </a:defRPr>
            </a:pPr>
            <a:r>
              <a:t>它再决定记忆点。</a:t>
            </a:r>
          </a:p>
          <a:p>
            <a:pPr>
              <a:spcAft>
                <a:spcPts val="180"/>
              </a:spcAft>
              <a:defRPr sz="1800" b="0" i="0">
                <a:solidFill>
                  <a:srgbClr val="D4DBE4"/>
                </a:solidFill>
                <a:latin typeface="Aptos"/>
              </a:defRPr>
            </a:pPr>
            <a:r>
              <a:t>它最后才承载说明。</a:t>
            </a:r>
          </a:p>
        </p:txBody>
      </p:sp>
      <p:pic>
        <p:nvPicPr>
          <p:cNvPr id="6" name="Picture 5" descr="tmpemd0p0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1" y="1280160"/>
            <a:ext cx="3200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2121C"/>
            </a:gs>
            <a:gs pos="100000">
              <a:srgbClr val="2E1652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kz489gh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8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0"/>
            <a:ext cx="7863840" cy="10972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504"/>
              </a:spcAft>
              <a:defRPr sz="4200" b="1" i="0">
                <a:solidFill>
                  <a:srgbClr val="FFFFFF"/>
                </a:solidFill>
                <a:latin typeface="Aptos Display"/>
              </a:defRPr>
            </a:pPr>
            <a:r>
              <a:t>横向叙事页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44768"/>
            <a:ext cx="7863840" cy="2743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4"/>
              </a:spcAft>
              <a:defRPr sz="1200" b="0" i="0">
                <a:solidFill>
                  <a:srgbClr val="F4F7FA"/>
                </a:solidFill>
                <a:latin typeface="Aptos"/>
              </a:defRPr>
            </a:pPr>
            <a:r>
              <a:t>适合章节过渡、场景叙述和品牌语气铺垫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2121C"/>
            </a:gs>
            <a:gs pos="100000">
              <a:srgbClr val="2E1652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97280"/>
            <a:ext cx="7315200" cy="4389120"/>
          </a:xfrm>
          <a:prstGeom prst="roundRect">
            <a:avLst/>
          </a:prstGeom>
          <a:solidFill>
            <a:srgbClr val="141C2A"/>
          </a:solidFill>
          <a:ln w="15875">
            <a:solidFill>
              <a:srgbClr val="485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325880"/>
            <a:ext cx="914400" cy="91440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104"/>
              </a:spcAft>
              <a:defRPr sz="9200" b="1" i="0">
                <a:solidFill>
                  <a:srgbClr val="58D6C6"/>
                </a:solidFill>
                <a:latin typeface="Aptos Display"/>
              </a:defRPr>
            </a:pPr>
            <a: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6309360" cy="228600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56"/>
              </a:spcAft>
              <a:defRPr sz="2600" b="0" i="1">
                <a:solidFill>
                  <a:srgbClr val="EAF6FF"/>
                </a:solidFill>
                <a:latin typeface="Aptos Display"/>
              </a:defRPr>
            </a:pPr>
            <a:r>
              <a:t>先建立气氛，再压缩信息密度，图片型页面才会真正成立。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00"/>
            <a:ext cx="6309360" cy="45720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0" i="0">
                <a:solidFill>
                  <a:srgbClr val="9AA6B8"/>
                </a:solidFill>
                <a:latin typeface="Aptos"/>
              </a:defRPr>
            </a:pPr>
            <a:r>
              <a:t>— AutoPPT Sample Desk, Visual Showcase Notes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2121C"/>
            </a:gs>
            <a:gs pos="100000">
              <a:srgbClr val="2E1652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EAF6FF"/>
                </a:solidFill>
                <a:latin typeface="Aptos Display"/>
              </a:defRPr>
            </a:pPr>
            <a:r>
              <a:t>References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280160"/>
            <a:ext cx="7827263" cy="5029200"/>
          </a:xfrm>
          <a:prstGeom prst="roundRect">
            <a:avLst/>
          </a:prstGeom>
          <a:solidFill>
            <a:srgbClr val="141C2A"/>
          </a:solidFill>
          <a:ln w="15875">
            <a:solidFill>
              <a:srgbClr val="485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19" y="1353312"/>
            <a:ext cx="7680959" cy="48828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44"/>
              </a:spcAft>
              <a:defRPr sz="1100" b="0" i="0">
                <a:solidFill>
                  <a:srgbClr val="D4DBE4"/>
                </a:solidFill>
                <a:latin typeface="Aptos"/>
              </a:defRPr>
            </a:pPr>
            <a:r>
              <a:t>https://github.com/yeasy/autoppt</a:t>
            </a:r>
          </a:p>
          <a:p>
            <a:pPr>
              <a:spcAft>
                <a:spcPts val="44"/>
              </a:spcAft>
              <a:defRPr sz="1100" b="0" i="0">
                <a:solidFill>
                  <a:srgbClr val="D4DBE4"/>
                </a:solidFill>
                <a:latin typeface="Aptos"/>
              </a:defRPr>
            </a:pPr>
            <a:r>
              <a:t>https://platform.openai.com/docs/overview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