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Capability Index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Capability Index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40.0</c:v>
                </c:pt>
                <c:pt idx="1">
                  <c:v>55.0</c:v>
                </c:pt>
                <c:pt idx="2">
                  <c:v>70.0</c:v>
                </c:pt>
                <c:pt idx="3">
                  <c:v>82.0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4FD8FF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30"/>
              </a:spcAft>
              <a:defRPr sz="4600" b="1" i="0">
                <a:solidFill>
                  <a:srgbClr val="FFFFFF"/>
                </a:solidFill>
                <a:latin typeface="Aptos Display"/>
              </a:defRPr>
            </a:pPr>
            <a:r>
              <a:t>Artificial Intelligence and Future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C6C9EA"/>
                </a:solidFill>
                <a:latin typeface="Aptos"/>
              </a:defRPr>
            </a:pPr>
            <a:r>
              <a:t>From model capability to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mcjr3s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52"/>
              </a:spcAft>
              <a:defRPr sz="4600" b="1" i="0">
                <a:solidFill>
                  <a:srgbClr val="FFFFFF"/>
                </a:solidFill>
                <a:latin typeface="Aptos Display"/>
              </a:defRPr>
            </a:pPr>
            <a:r>
              <a:t>Platform-scale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High-fidelity hero slide for a launch-style technology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Platform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2011680"/>
            <a:ext cx="2462783" cy="192024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4FD8FF"/>
                </a:solidFill>
                <a:latin typeface="Aptos Display"/>
              </a:defRPr>
            </a:pPr>
            <a: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E7E9FF"/>
                </a:solidFill>
                <a:latin typeface="Aptos"/>
              </a:defRPr>
            </a:pPr>
            <a:r>
              <a:t>Teams standardizing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607" y="2011680"/>
            <a:ext cx="2462783" cy="192024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375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4FD8FF"/>
                </a:solidFill>
                <a:latin typeface="Aptos Display"/>
              </a:defRPr>
            </a:pPr>
            <a:r>
              <a:t>2.7x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75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E7E9FF"/>
                </a:solidFill>
                <a:latin typeface="Aptos"/>
              </a:defRPr>
            </a:pPr>
            <a:r>
              <a:t>Faster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22847" y="2011680"/>
            <a:ext cx="2462783" cy="192024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99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4FD8FF"/>
                </a:solidFill>
                <a:latin typeface="Aptos Display"/>
              </a:defRPr>
            </a:pPr>
            <a:r>
              <a:t>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9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E7E9FF"/>
                </a:solidFill>
                <a:latin typeface="Aptos"/>
              </a:defRPr>
            </a:pPr>
            <a:r>
              <a:t>Pilot to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What changed in one year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Models became the default UI.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Evaluation moved into the product loop.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Governance moved upstream.</a:t>
            </a:r>
          </a:p>
        </p:txBody>
      </p:sp>
      <p:pic>
        <p:nvPicPr>
          <p:cNvPr id="7" name="Picture 6" descr="tmpp8t1xx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Point tools vs AI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Point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AI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Quick wins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Repeated integration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No shared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Shared routing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Reusable knowledge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Lower rollout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Capability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6656" y="1344168"/>
            <a:ext cx="7735824" cy="4535424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49808" y="1417320"/>
          <a:ext cx="7589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Execution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Models and routing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Retrieval and tools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Feedback and evals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Risk tiers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Budget guardrails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Workflow owners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4FD8FF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FFFFFF"/>
                </a:solidFill>
                <a:latin typeface="Aptos Display"/>
              </a:defRPr>
            </a:pPr>
            <a:r>
              <a:t>The durable advantage comes from redesigning work, not merely adding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C6C9EA"/>
                </a:solidFill>
                <a:latin typeface="Aptos"/>
              </a:defRPr>
            </a:pPr>
            <a:r>
              <a:t>— AutoPPT Sample Desk, Future Technology Brief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E7E9FF"/>
                </a:solidFill>
                <a:latin typeface="Aptos"/>
              </a:defRPr>
            </a:pPr>
            <a:r>
              <a:t>https://www.mckinsey.com/capabilities/quantumblack/our-insights/the-state-of-ai</a:t>
            </a:r>
          </a:p>
          <a:p>
            <a:pPr>
              <a:spcAft>
                <a:spcPts val="44"/>
              </a:spcAft>
              <a:defRPr sz="1100" b="0" i="0">
                <a:solidFill>
                  <a:srgbClr val="E7E9FF"/>
                </a:solidFill>
                <a:latin typeface="Aptos"/>
              </a:defRPr>
            </a:pPr>
            <a:r>
              <a:t>https://openai.com/index/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